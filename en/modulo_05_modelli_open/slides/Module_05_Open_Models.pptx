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5 OPENING</a:t>
            </a:r>
          </a:p>
          <a:p/>
          <a:p>
            <a:r>
              <a:t>· Introduce the module and its objectives</a:t>
            </a:r>
          </a:p>
          <a:p>
            <a:r>
              <a:t>· Verify everyone has access to the tools</a:t>
            </a:r>
          </a:p>
          <a:p>
            <a:r>
              <a:t>· Preview the structure: theory first, then hands-on</a:t>
            </a:r>
          </a:p>
          <a:p>
            <a:r>
              <a:t>· Suggested time: 2-3 minutes</a:t>
            </a:r>
          </a:p>
          <a:p/>
          <a:p>
            <a:r>
              <a:t>Opening question: 'Has anyone used AI tools this week?'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Walk through each agenda item briefly</a:t>
            </a:r>
          </a:p>
          <a:p>
            <a:r>
              <a:t>· Point out the hands-on labs and breaks</a:t>
            </a:r>
          </a:p>
          <a:p>
            <a:r>
              <a:t>· Ask if there are any particular expectations</a:t>
            </a:r>
          </a:p>
          <a:p>
            <a:r>
              <a:t>· Suggested time: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Open Source in AI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FULLY OPEN SOURCE; OPEN WEIGHT (the most common); CLOSED SOURCE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TRANSPARENCY: you can know (in part) how they work; 2. INDEPENDENCE: you are not locked into a single provider; 3. PRIVACY: you can run them on your own computer or server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Every open model has its own license. The most common ones:; Apache 2.0 (the most permissive):; Llama Community License: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The main models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Developed by Meta (Facebook/Instagram); One of the most powerful open models in the world; Available versions: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French company Mistral AI (founded 2023, Paris); Known for efficiency: small models that are very capable; Key models: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Open version of Google's models (a cousin of Gemini); Designed to be accessible and easy to use; Versions: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Qwen 2.5 (Alibaba, China); Phi-4 (Microsoft); DeepSeek V3 (DeepSeek, China)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AI Basics Course</a:t>
            </a:r>
          </a:p>
          <a:p/>
          <a:p>
            <a:r>
              <a:t>· Don't read the whole table — highlight 2-3 key rows</a:t>
            </a:r>
          </a:p>
          <a:p>
            <a:r>
              <a:t>· Ask participants to find the most surprising data point</a:t>
            </a:r>
          </a:p>
          <a:p>
            <a:r>
              <a:t>· Leave the table visible for a few seconds for reading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Where to use them without installing anything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huggingface.co/chat — The go-to platform for open models; Features:; Limitations: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aistudio.google.com — Google's platform for experimentation; Features:; Ideal for: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Groq (groq.com); Poe (poe.com) — by Quora; Perplexity (perplexity.ai)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1: Exploring HuggingChat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Go to huggingface.co/chat; 2. (Optional) Create an account or sign in with Google; 3. Observe: which model is selected by default?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Click on the model name at the top to change it; 2. Select a DIFFERENT model from the previous one; 3. Send the SAME presentation email prompt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HuggingChat has a web search feature (if available):; 1. Enable web search (globe icon, if present); 2. Ask something that requires recent information: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2: Google AI Studio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Go to aistudio.google.com; 2. Sign in with your Google account; 3. Click 'Create new prompt'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In the right panel you will find the model parameters:; TEMPERATURE: try changing it!; TOP-P (nucleus sampling):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Google AI Studio supports file and image uploads:; 1. Click the attachment icon; 2. Upload an image (photo, screenshot, chart)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3: Open vs Commercial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Send the SAME prompt to: ChatGPT, Claude, HuggingChat, Google AI Studio; Suggested prompt (complex task for a realistic test):; For each one, evaluate: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AI Basics Course</a:t>
            </a:r>
          </a:p>
          <a:p/>
          <a:p>
            <a:r>
              <a:t>· Don't read the whole table — highlight 2-3 key rows</a:t>
            </a:r>
          </a:p>
          <a:p>
            <a:r>
              <a:t>· Ask participants to find the most surprising data point</a:t>
            </a:r>
          </a:p>
          <a:p>
            <a:r>
              <a:t>· Leave the table visible for a few seconds for reading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PREFER OPEN WHEN:; PREFER COMMERCIAL WHEN: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gap between open and closed models is shrinking rapidly; Current trends:; What this means for you: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RECAP</a:t>
            </a:r>
          </a:p>
          <a:p/>
          <a:p>
            <a:r>
              <a:t>· Go through each point quickly — DON'T re-explain everything</a:t>
            </a:r>
          </a:p>
          <a:p>
            <a:r>
              <a:t>· Ask: 'What concept stood out the most?'</a:t>
            </a:r>
          </a:p>
          <a:p>
            <a:r>
              <a:t>· Ask: 'Is there anything that's still unclear?'</a:t>
            </a:r>
          </a:p>
          <a:p>
            <a:r>
              <a:t>· If there are doubts, clarify now before moving on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MODULE PREVIEW</a:t>
            </a:r>
          </a:p>
          <a:p/>
          <a:p>
            <a:r>
              <a:t>· Briefly preview what's coming next</a:t>
            </a:r>
          </a:p>
          <a:p>
            <a:r>
              <a:t>· Build curiosity without giving too much away</a:t>
            </a:r>
          </a:p>
          <a:p>
            <a:r>
              <a:t>· Announce the break if scheduled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SESSION</a:t>
            </a:r>
          </a:p>
          <a:p/>
          <a:p>
            <a:r>
              <a:t>· Open the floor: 'Any questions?'</a:t>
            </a:r>
          </a:p>
          <a:p>
            <a:r>
              <a:t>· If nobody asks, prompt with:</a:t>
            </a:r>
          </a:p>
          <a:p>
            <a:r>
              <a:t>  'Which tool do you think you'll use first at work?'</a:t>
            </a:r>
          </a:p>
          <a:p>
            <a:r>
              <a:t>· Manage time: max 5 minutes</a:t>
            </a:r>
          </a:p>
          <a:p>
            <a:r>
              <a:t>· If too many questions, offer to continue during the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Full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Module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Open Source Models: free and open alternatives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  |  Duration: 2 hours  |  0.5h Theory + 1.5h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07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syllabus.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What we'll cover in this module.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What 'open source' means in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The main models: Llama, Mistral, Gemma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Where to use them without installing anything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1: exploring HuggingChat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2: Google AI Studio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3: quality comparison — open vs commercial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When an open model is the right choice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Open Source in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Why it matters and what it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An 'open' AI model is a model whose weights</a:t>
            </a:r>
            <a:br/>
            <a:r>
              <a:t>(parameters) are publicly available.</a:t>
            </a:r>
            <a:br/>
            <a:r>
              <a:t>Anyone can download, use, and study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Note: 'open' does not always mean 'do whatever you want'. Licenses vary.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Open source vs open weight vs closed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FULLY OPEN SOURCE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Code + training data + model weights are all public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Examples: OLMo (AI2) — the most transparent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OPEN WEIGHT (the most common)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Only the model weights are public (downloadable and usable)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Training code and data are often not released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Examples: Llama (Meta), Mistral, Gemma (Google)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CLOSED SOURCE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Nothing is public. Access only via API or web interface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Examples: GPT-4 (OpenAI), Claude (Anthropic)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simplicity, in this course we use 'open' to refer to both of the first two.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Why open models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TRANSPARENCY: you can know (in part) how they work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Important for trust and for safety research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INDEPENDENCE: you are not locked into a single provider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If OpenAI changes prices or policies, you have alternatives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PRIVACY: you can run them on your own computer or server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Data never leaves your network (if you install them locally)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CUSTOMIZATION: you can fine-tune them for your domain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 model specialized for your company or industry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COST: many are free for commercial use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(always check the specific license!)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Licenses: what you can and cannot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Every open model has its own license. The most common ones: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Apache 2.0 (the most permissive):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Free commercial use, free modification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Models: Mistral, Gemma 2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Llama Community License: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Free if your company has &lt; 700M monthly active users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Commercial use allowed with restrictions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Models: Llama 3.1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PRACTICAL RULE for your everyday use: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If you use the models through HuggingChat or AI Studio,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 licenses are handled by the platform. No issues.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The main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The key players of open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Llama 3.1 (Meta)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Developed by Meta (Facebook/Instagram)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One of the most powerful open models in the world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Available versions: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Llama 3.1 8B — Lightweight, fast, good quality (runs on a powerful PC)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Llama 3.1 70B — Very capable, competes with GPT-4 on many tasks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Llama 3.1 405B — The largest open model, exceptional quality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Strengths: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Excellent at reasoning and writing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Multilingual (very good in Italian too)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Context window up to 128K tokens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How to use it: HuggingChat, Groq, Together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Mistral and Mixtral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French company Mistral AI (founded 2023, Paris)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Known for efficiency: small models that are very capable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Key models: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Mistral 7B — Small and surprisingly powerful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Mixtral 8x7B — 'Mixture of Experts' architecture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(uses only a subset of parameters per response = faster)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Mistral Large — Competes with top commercial models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Strengths: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Excellent quality-to-size ratio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Very fast responses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Excellent in French, good in Italian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Apache 2.0 license (very permissive)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Gemma 2 (Google)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Open version of Google's models (a cousin of Gemini)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Designed to be accessible and easy to use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Versions: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Gemma 2 2B — Ultra-lightweight, runs even on smartphones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Gemma 2 9B — Good quality/speed trade-off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Gemma 2 27B — The most capable in the family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Strengths: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Very efficient (small but capable)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Easy to use on Google AI Studio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Permissive license for commercial use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Well documented and supported by Google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Ideal for: anyone who wants to experiment with limited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Other models to keep an eye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Qwen 2.5 (Alibaba, China)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Very strong in reasoning and mathematics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Excellent quality/cost ratio even in smaller versions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Phi-4 (Microsoft)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Ultra-compact: maximum quality for its size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Designed to run on local devices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DeepSeek V3 (DeepSeek, China)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Very capable model with surprisingly low training costs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Shook the market by proving you don't need billions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landscape changes every few months — staying up to date is important!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Open model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03"/>
                <a:gridCol w="2036003"/>
                <a:gridCol w="2036003"/>
                <a:gridCol w="2036003"/>
                <a:gridCol w="2036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Llama 3.1 70B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70B 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Mistral Large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Mistral AI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123B params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Very good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Mixtral 8x7B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Mistral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47B 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Gemma 2 27B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27B params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Qwen 2.5 72B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Alibaba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72B 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Phi-4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14B params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Very fast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Where to use them without installing anything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Free web platforms for open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HuggingChat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huggingface.co/chat — The go-to platform for open models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Features: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FREE with no significant limits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Login optional (recommended to save chats)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Wide choice of models: Llama, Mistral, Gemma, Qwen and more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can switch models at any time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Interface similar to ChatGPT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Supports web search (toggleable)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 file upload (in the basic version)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 image generation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Sometimes slower than commercial services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Quality varies across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Google AI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aistudio.google.com — Google's platform for experimentation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Features: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Free access with a Google account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Available models: Gemini 2.5 Pro, Gemini Flash, Gemma 2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More 'technical' interface than HuggingChat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Parameter controls: temperature, top-p, max tokens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File and image upload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Ability to use 'system instructions'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Ideal for: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Those who want to understand how parameters work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Comparing versions of Google models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Experimentation and prototyping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Other useful platforms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Groq (groq.com)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Open models at extreme speed thanks to specialized chips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Free with usage limits. Llama, Mistral, Gemma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Poe (poe.com) — by Quora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Access to MANY models (open + commercial) from a single interface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Free tier limited, subscription for unlimited use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Perplexity (perplexity.ai)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AI search engine: combines models with web search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Not strictly 'open', but uses open models internally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Free with limits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OpenRouter (openrouter.ai)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Access to dozens of models (open and closed) with a single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1: Exploring HuggingChat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Your first hands-on with open models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1: setup and first 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Go to huggingface.co/chat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(Optional) Create an account or sign in with Google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Observe: which model is selected by default?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Send your first message: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'Hello! Introduce yourself: tell me which model you are, who created you,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and what your main strengths and limitations are.'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Look at the response: does the model 'know' who it is?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Try a practical question: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'Write a presentation email for an IT consulting firm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to a potential client in the healthcare sector.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Professional tone, max 150 words.'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2: switch models and compare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Click on the model name at the top to change it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Select a DIFFERENT model from the previous 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Suggestion: try Llama, then Mistral, then Qwen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Send the SAME presentation email prompt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Compare the responses: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Which email is more professional?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Which one better respects the 150-word limit?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Which one has better English?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Try a third model and repeat the comparison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Each model has a different 'personality'!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Learning to recognize them helps you choose.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3: web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HuggingChat has a web search feature (if available):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Enable web search (globe icon, if present)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Ask something that requires recent information: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'What are the latest developments in generative AI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this week?'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Observe: does it provide sources? Are the sources reliable?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Comparison with ChatGPT: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Ask the same question to ChatGPT with web browsing enabled.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Which one provides better sources?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Which information is more up to date?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2: Google AI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Experimenting with model parameters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1: first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Go to aistudio.google.com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Sign in with your Google account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Click 'Create new prompt'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Observe the interface: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On the left: chat / prompt area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On the right: model settings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At the top: model selection (Gemini 2.5 Pro, Flash, Gemma)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Select 'Gemini 2.5 Flash' (fast and free)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Write: 'You are an assistant for an international company.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Always respond in English, in a concise and professional manner.'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Enter this in the 'System instructions'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2: exploring the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 the right panel you will find the model parameters: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TEMPERATURE: try changing it!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Set 0.1 and ask: 'Write 3 slogans for an ice cream shop'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Then set 1.0 and ask the SAME question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Observe: at low temperature the slogans are more 'safe',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at high temperature they are more creative and unpredictable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TOP-P (nucleus sampling):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Controls the 'diversity' of words considered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- 0.1 = very conservative, 1.0 = maximum variety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MAX OUTPUT TOKENS: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Maximum token limit in the response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Try it: set 50 tokens and observe the truncated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3: upload and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Google AI Studio supports file and image uploads: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Click the attachment icon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Upload an image (photo, screenshot, chart)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Ask: 'Describe what you see in this image.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If it contains text, transcribe it. If it contains data, analyze it.'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Try with a PDF document: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'Summarize this document in 5 key points.'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Comparison: is the analysis quality comparable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to ChatGPT and Claude? How does it differ?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AI Studio is more 'technical' but offers greater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3: Open vs Commercial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Quality comparison on real tasks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Exercise: same prompt on 4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Send the SAME prompt to: ChatGPT, Claude, HuggingChat, Google AI Studio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prompt (complex task for a realistic test):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'You are an HR consultant. An Italian tech company (80 employees)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has a 25% annual turnover rate. Analyze the possible causes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and propose a 5-point retention plan, with estimated costs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and implementation timelines. Format: table + final recommendation.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Max 400 words.'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each one, evaluate: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Did it follow the format (table + recommendation)?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Are the identified causes plausible?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Is the plan realistic and actionable?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Did it respect the word limit?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Comparison matrix (fill it in!)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03"/>
                <a:gridCol w="2036003"/>
                <a:gridCol w="2036003"/>
                <a:gridCol w="2036003"/>
                <a:gridCol w="2036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HuggingChat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Studio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Format adherence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Content quality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Cost estimate realism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Word limit compliance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Correct English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TOTAL (1-25)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When to prefer an open model?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PREFER OPEN WHEN: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budget is zero (HuggingChat is completely free)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Privacy is critical (local models with Ollama)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want to experiment freely with no message limits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task is simple (emails, summaries, brainstorming)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want to understand how parameters work (AI Studio)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PREFER COMMERCIAL WHEN: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the highest quality possible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advanced features (file upload, code interpreter)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work with long, complex documents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image generation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want a more polished and reliable user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future of open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gap between open and closed models is shrinking rapidly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Current trends: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Open models improve every 3-6 months (Llama 4 expected soon)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Web platforms make access easier and easier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Companies like Meta, Google, and Microsoft invest in open models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EU AI Act may favor transparent and open models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What this means for you: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Learn to use both commercial and open tools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Don't lock yourself into a single provider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Keep an eye on the latest developments (the landscape changes fast)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Those who master both worlds have a competitive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'Open' in AI means publicly available (and often reusable) model weights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Llama (Meta), Mistral, and Gemma (Google) are the key players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HuggingChat and Google AI Studio let you use them for free with no installation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The quality of open models is now competitive for many everyday tasks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The open vs commercial choice depends on: budget, privacy, task complexity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The gap is closing fast — staying up to date is essential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NEXT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Module 6: AI in everyday work</a:t>
            </a:r>
            <a:br/>
            <a:r>
              <a:t>Real-world use cases and practical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There are no stupid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