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APERTURA MODULO 2</a:t>
            </a:r>
          </a:p>
          <a:p/>
          <a:p>
            <a:r>
              <a:t>· Presenta il modulo e gli obiettivi</a:t>
            </a:r>
          </a:p>
          <a:p>
            <a:r>
              <a:t>· Verifica che tutti abbiano accesso agli strumenti</a:t>
            </a:r>
          </a:p>
          <a:p>
            <a:r>
              <a:t>· Anticipa la struttura: prima la teoria, poi la pratica</a:t>
            </a:r>
          </a:p>
          <a:p>
            <a:r>
              <a:t>· Tempo suggerito: 2-3 minuti</a:t>
            </a:r>
          </a:p>
          <a:p/>
          <a:p>
            <a:r>
              <a:t>Domanda di apertura: 'Qualcuno di voi ha gia usato strumenti AI questa settimana?'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</a:t>
            </a:r>
          </a:p>
          <a:p/>
          <a:p>
            <a:r>
              <a:t>· Scorri brevemente ogni punto dell'agenda</a:t>
            </a:r>
          </a:p>
          <a:p>
            <a:r>
              <a:t>· Indica i momenti pratici (lab) e le pause</a:t>
            </a:r>
          </a:p>
          <a:p>
            <a:r>
              <a:t>· Chiedi se ci sono aspettative particolari</a:t>
            </a:r>
          </a:p>
          <a:p>
            <a:r>
              <a:t>· Tempo suggerito: 2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Cos'e il Prompt Engineering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CONCETTO CHIAVE</a:t>
            </a:r>
          </a:p>
          <a:p/>
          <a:p>
            <a:r>
              <a:t>&gt;&gt;&gt; PAUSA QUI — Lascia il tempo di leggere &lt;&lt;&lt;</a:t>
            </a:r>
          </a:p>
          <a:p/>
          <a:p>
            <a:r>
              <a:t>· Questa slide contiene un concetto fondamentale</a:t>
            </a:r>
          </a:p>
          <a:p>
            <a:r>
              <a:t>· Leggi il testo ad alta voce, poi parafrasa</a:t>
            </a:r>
          </a:p>
          <a:p>
            <a:r>
              <a:t>· Chiedi: 'Qualcuno puo riformularlo con parole sue?'</a:t>
            </a:r>
          </a:p>
          <a:p>
            <a:r>
              <a:t>· Assicurati che tutti abbiano compreso prima di proseguire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Lo STESSO strumento puo dare risultati pessimi o eccellenti; La differenza non e nel modello, ma in COME gli parli; Prompt vago: 'Scrivi qualcosa sul marketing'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prompt e la tua UNICA interfaccia con il modello AI; Non puoi 'mostrare' cosa vuoi — devi DESCRIVERLO a parole; Pensa al prompt come a un brief per un collega: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Un prompt efficace ha fino a 6 componenti:; 1. RUOLO — Chi deve essere l'AI (es: 'Sei un esperto di marketing'); 2. CONTESTO — Informazioni di background rilevanti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Tecniche fondamentali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Chiedere esplicitamente un FORMATO specifico per la risposta; Formati utili:; Esempio: 'Crea una tabella con 3 colonne: Strumento, Pro, Contro.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Spezzare un compito COMPLESSO in sotto-compiti piu semplici; INVECE DI: 'Scrivi un business plan per un ristorante'; MEGLIO: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Aggiungere VINCOLI espliciti per controllare l'output; Vincoli di lunghezza: 'Rispondi in massimo 100 parole'; Vincoli di lingua: 'Rispondi in italiano formale'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Il primo prompt raramente e quello perfetto; Processo iterativo:; E una CONVERSAZIONE, non un comando unico!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1. TROPPO VAGO: 'Dimmi qualcosa sull'AI'; 2. TROPPO LUNGO: prompt di 500 parole con informazioni irrilevanti; 3. ASPETTATIVE IRREALISTICHE: 'Scrivi il mio intero libro'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1: Da prompt vaghi a prompt efficaci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CONFRONTO: Corso AI Basics</a:t>
            </a:r>
          </a:p>
          <a:p/>
          <a:p>
            <a:r>
              <a:t>· Presenta prima il lato sinistro, poi il destro</a:t>
            </a:r>
          </a:p>
          <a:p>
            <a:r>
              <a:t>· Evidenzia le differenze chiave</a:t>
            </a:r>
          </a:p>
          <a:p>
            <a:r>
              <a:t>· Chiedi ai partecipanti quale preferiscono e perche</a:t>
            </a:r>
          </a:p>
          <a:p>
            <a:r>
              <a:t>· Non schierarti: il messaggio e 'dipende dal contesto'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Apri ChatGPT o Claude e prova:; 1. Scrivi un prompt VAGO per un compito a tua scelta; 2. Osserva la risposta: cosa manca? Cosa non va?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2: Scenari lavorativi reali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Contesto: Devi proporre idee innovative per il prossimo trimestre; Prompt consigliato:; 'Sei un consulente strategico. La mia azienda vende software gestionale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Contesto: Devi scrivere un report mensile per la direzione; Prompt consigliato:; 'Scrivi un report executive di 1 pagina sui risultati del mese di giugno.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Contesto: Devi tradurre contenuti marketing per il mercato estero; Prompt consigliato:; 'Traduci il seguente testo dall'italiano all'inglese britannico.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Contesto: Devi scegliere tra due fornitori / opzioni / strategie; Prompt consigliato:; 'Aiutami a decidere tra le opzioni A e B per [decisione].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Contesto: Devi creare una presentazione per un meeting interno; Prompt consigliato:; 'Crea la struttura di una presentazione di 10 slide su [argomento].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Contesto: Devi creare contenuti per i social aziendali; Prompt consigliato:; 'Sei un social media manager per un'azienda di [settore].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Contesto: Hai raccolto recensioni/feedback e devi analizzarli; Prompt consigliato:; 'Analizza i seguenti feedback dei clienti [incolla feedback].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Contesto: Devi rispondere a email ripetitive (richieste info, conferme...); Prompt consigliato:; 'Crea 5 template di risposta email per le richieste piu comuni: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TRANSIZIONE DI SEZIONE</a:t>
            </a:r>
          </a:p>
          <a:p/>
          <a:p>
            <a:r>
              <a:t>Titolo: Lab 3: Confronto tra strumenti</a:t>
            </a:r>
          </a:p>
          <a:p/>
          <a:p>
            <a:r>
              <a:t>· Pausa breve: 'Fin qui tutto chiaro?'</a:t>
            </a:r>
          </a:p>
          <a:p>
            <a:r>
              <a:t>· Introduci il tema della nuova sezione</a:t>
            </a:r>
          </a:p>
          <a:p>
            <a:r>
              <a:t>· Collegamento con la sezione precedente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Scegli UNO degli scenari del Lab 2; Invia lo STESSO prompt a ChatGPT, Claude e HuggingChat; Valuta ogni risposta su questi criteri (1-5):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TABELLA: Corso AI Basics</a:t>
            </a:r>
          </a:p>
          <a:p/>
          <a:p>
            <a:r>
              <a:t>· Non leggere tutta la tabella — evidenzia 2-3 righe chiave</a:t>
            </a:r>
          </a:p>
          <a:p>
            <a:r>
              <a:t>· Chiedi ai partecipanti di trovare il dato piu sorprendente</a:t>
            </a:r>
          </a:p>
          <a:p>
            <a:r>
              <a:t>· Lascia la tabella visibile qualche secondo per la lettura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Corso AI Basics</a:t>
            </a:r>
          </a:p>
          <a:p/>
          <a:p>
            <a:r>
              <a:t>Punti chiave da enfatizzare:</a:t>
            </a:r>
          </a:p>
          <a:p>
            <a:r>
              <a:t>· Non esiste un tool 'migliore in assoluto' — dipende dal compito:; ChatGPT eccelle in: uso generico, navigazione web, generazione immagini,; Claude eccelle in: analisi di documenti lunghi, qualita della scrittura,</a:t>
            </a:r>
          </a:p>
          <a:p/>
          <a:p>
            <a:r>
              <a:t>Suggerimenti:</a:t>
            </a:r>
          </a:p>
          <a:p>
            <a:r>
              <a:t>· Non leggere i bullet — parafrasa e aggiungi contesto</a:t>
            </a:r>
          </a:p>
          <a:p>
            <a:r>
              <a:t>· Usa esempi concreti dal lavoro quotidiano</a:t>
            </a:r>
          </a:p>
          <a:p>
            <a:r>
              <a:t>· Chiedi: 'Qualcuno ha esperienza diretta con questo?'</a:t>
            </a:r>
          </a:p>
          <a:p>
            <a:r>
              <a:t>· Tempo suggerito: 2-3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RIEPILOGO MODULO</a:t>
            </a:r>
          </a:p>
          <a:p/>
          <a:p>
            <a:r>
              <a:t>· Scorri ogni punto rapidamente — NON rispiegare tutto</a:t>
            </a:r>
          </a:p>
          <a:p>
            <a:r>
              <a:t>· Chiedi: 'Qual e il concetto che vi ha colpito di piu?'</a:t>
            </a:r>
          </a:p>
          <a:p>
            <a:r>
              <a:t>· Chiedi: 'C'e qualcosa che non e chiaro?'</a:t>
            </a:r>
          </a:p>
          <a:p>
            <a:r>
              <a:t>· Se ci sono dubbi, chiarisci ora prima di proseguire</a:t>
            </a:r>
          </a:p>
          <a:p>
            <a:r>
              <a:t>· Tempo suggerito: 3-4 minuti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ANTEPRIMA PROSSIMO MODULO</a:t>
            </a:r>
          </a:p>
          <a:p/>
          <a:p>
            <a:r>
              <a:t>· Presenta brevemente cosa si vedra dopo</a:t>
            </a:r>
          </a:p>
          <a:p>
            <a:r>
              <a:t>· Crea curiosita senza anticipare troppo</a:t>
            </a:r>
          </a:p>
          <a:p>
            <a:r>
              <a:t>· Annuncia la pausa se prevista</a:t>
            </a:r>
          </a:p>
          <a:p>
            <a:r>
              <a:t>· Tempo suggerito: 1 minuto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SESSIONE DOMANDE</a:t>
            </a:r>
          </a:p>
          <a:p/>
          <a:p>
            <a:r>
              <a:t>· Apri il microfono: 'Ci sono domande?'</a:t>
            </a:r>
          </a:p>
          <a:p>
            <a:r>
              <a:t>· Se nessuno chiede, proponi una domanda stimolo:</a:t>
            </a:r>
          </a:p>
          <a:p>
            <a:r>
              <a:t>  'Quale strumento pensate di usare per primo nel vostro lavoro?'</a:t>
            </a:r>
          </a:p>
          <a:p>
            <a:r>
              <a:t>· Gestisci il tempo: max 5 minuti</a:t>
            </a:r>
          </a:p>
          <a:p>
            <a:r>
              <a:t>· Se le domande sono troppe, offri di rispondere durante la pausa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AI Basics  ·  Corso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457200"/>
            <a:ext cx="46936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005840"/>
            <a:ext cx="1280160" cy="274320"/>
          </a:xfrm>
          <a:prstGeom prst="round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0B0B0C"/>
                </a:solidFill>
                <a:latin typeface="Consolas"/>
              </a:defRPr>
            </a:pPr>
            <a:r>
              <a:t>ChatGPT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3160" y="1005840"/>
            <a:ext cx="1280160" cy="274320"/>
          </a:xfrm>
          <a:prstGeom prst="round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Claude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005840"/>
            <a:ext cx="1280160" cy="274320"/>
          </a:xfrm>
          <a:prstGeom prst="round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Open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74920" y="1005840"/>
            <a:ext cx="1280160" cy="274320"/>
          </a:xfrm>
          <a:prstGeom prst="round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024128"/>
            <a:ext cx="1188720" cy="237744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  <a:latin typeface="Consolas"/>
              </a:defRPr>
            </a:pPr>
            <a:r>
              <a:t>Prompt Eng.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645920"/>
            <a:ext cx="10180015" cy="16459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1" i="0">
                <a:solidFill>
                  <a:srgbClr val="0B0B0C"/>
                </a:solidFill>
                <a:latin typeface="Georgia"/>
              </a:defRPr>
            </a:pPr>
            <a:r>
              <a:t>Modulo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383280"/>
            <a:ext cx="2286000" cy="5486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65760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1">
                <a:solidFill>
                  <a:srgbClr val="2A2A2D"/>
                </a:solidFill>
                <a:latin typeface="Georgia"/>
              </a:defRPr>
            </a:pPr>
            <a:r>
              <a:t>Prompt Engineering: l'arte di chiedere bene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  |  Durata: 3 ore  |  1h Teoria + 2h Laboratorio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Agenda  ·  08 punti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1" i="0">
                <a:solidFill>
                  <a:srgbClr val="0B0B0C"/>
                </a:solidFill>
                <a:latin typeface="Georgia"/>
              </a:defRPr>
            </a:pPr>
            <a:r>
              <a:t>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822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7200" b="0" i="1">
                <a:solidFill>
                  <a:srgbClr val="FF5A1F"/>
                </a:solidFill>
                <a:latin typeface="Georgia"/>
              </a:defRPr>
            </a:pPr>
            <a:r>
              <a:t>programma.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4114800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Cosa vedremo in questo modulo.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05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10972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0972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Cos'e il Prompt Engineering e perche e importante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691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7830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7830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Anatomia di un buon prompt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3774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24688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4688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Tecniche fondamentali: zero-shot, few-shot, chain-of-thought, role-playing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0632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3154680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154680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1: trasformare prompt vaghi in prompt efficaci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749039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0" y="38404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404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2: scenari lavorativi reali (8 esercizi)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4348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45262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5262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Lab 3: confronto tra strumenti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5120640"/>
            <a:ext cx="56692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0" y="5212079"/>
            <a:ext cx="4114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5A1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5212079"/>
            <a:ext cx="4754880" cy="438912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0B0B0C"/>
                </a:solidFill>
                <a:latin typeface="Georgia"/>
              </a:defRPr>
            </a:pPr>
            <a:r>
              <a:t>Errori comuni e come evitarli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5A1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Cos'e il Prompt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La competenza piu importante dell'era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Concetto chiave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9728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B6B72"/>
                </a:solidFill>
                <a:latin typeface="Consolas"/>
              </a:defRPr>
            </a:pPr>
            <a:r>
              <a:t>DEFINIZIONE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80015" cy="27432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400" b="0" i="0">
                <a:solidFill>
                  <a:srgbClr val="0B0B0C"/>
                </a:solidFill>
                <a:latin typeface="Georgia"/>
              </a:defRPr>
            </a:pPr>
            <a:r>
              <a:t>Il Prompt Engineering e l'arte di formulare</a:t>
            </a:r>
            <a:br/>
            <a:r>
              <a:t>istruzioni efficaci per ottenere dall'AI</a:t>
            </a:r>
            <a:br/>
            <a:r>
              <a:t>esattamente il risultato desiderato.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6634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92040"/>
            <a:ext cx="10180015" cy="9144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B6B72"/>
                </a:solidFill>
                <a:latin typeface="Calibri"/>
              </a:defRPr>
            </a:pPr>
            <a:r>
              <a:t>Non serve saper programmare. Serve saper comunicare con precisione.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Perche il Prompt Engineering e cosi importante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Lo STESSO strumento puo dare risultati pessimi o eccellenti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La differenza non e nel modello, ma in COME gli parli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vago: 'Scrivi qualcosa sul marketing'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Risultato generico, inutilizzabile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efficace: 'Scrivi 5 idee per una campagna social media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per un ristorante italiano a Milano, target 25-40 anni,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budget limitato, tono informale e accattivante'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Risultato specifico, azionabile, utile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Il prompt come interfaccia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prompt e la tua UNICA interfaccia con il modello AI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puoi 'mostrare' cosa vuoi — devi DESCRIVERLO a parole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Pensa al prompt come a un brief per un collega: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Chi e il destinatario?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 e l'obiettivo?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Che formato vuoi?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Che tono usare?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Ci sono vincoli o requisiti specifici?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Piu contesto dai, migliore sara il risultato.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Anatomia di un buon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Un prompt efficace ha fino a 6 componenti: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RUOLO — Chi deve essere l'AI (es: 'Sei un esperto di marketing')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CONTESTO — Informazioni di background rilevanti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COMPITO — Cosa deve fare, in modo specifico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FORMATO — Come vuoi l'output (lista, tabella, email, ecc.)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TONO — Formale, informale, tecnico, divulgativo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6. VINCOLI — Lunghezza, lingua, cose da evitare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servono sempre tutti e sei, ma piu ne usi, migliore sara il risultato.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1E3C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Tecniche fondamentali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Gli strumenti del prompt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Tecnica 1: Zero-shot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Cos'e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Dare un'istruzione diretta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SENZA fornire esempi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Il modello usa solo le sue conoscenze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La tecnica piu semplice e immediata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Esempio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Prompt: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'Traduci in inglese: Buongiorno,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come posso aiutarla?'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Quando usarla: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Per compiti semplici e ben definiti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Tecnica 2: Few-shot (con esempi)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Cos'e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Fornire 2-3 ESEMPI di input/output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Il modello impara il pattern dagli esempi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Molto piu preciso dello zero-shot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Ideale per compiti con formato specifico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Esempio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Prompt: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'Classifica il sentiment: </a:t>
            </a:r>
          </a:p>
          <a:p>
            <a:pPr>
              <a:spcAft>
                <a:spcPts val="600"/>
              </a:spcAft>
              <a:defRPr sz="1600">
                <a:solidFill>
                  <a:srgbClr val="6B6B72"/>
                </a:solidFill>
                <a:latin typeface="Calibri"/>
              </a:defRPr>
            </a:pPr>
            <a:r>
              <a:t>     Ottimo prodotto! -&gt; Positivo</a:t>
            </a:r>
          </a:p>
          <a:p>
            <a:pPr>
              <a:spcAft>
                <a:spcPts val="600"/>
              </a:spcAft>
              <a:defRPr sz="1600">
                <a:solidFill>
                  <a:srgbClr val="6B6B72"/>
                </a:solidFill>
                <a:latin typeface="Calibri"/>
              </a:defRPr>
            </a:pPr>
            <a:r>
              <a:t>     Pessima esperienza -&gt; Negativo</a:t>
            </a:r>
          </a:p>
          <a:p>
            <a:pPr>
              <a:spcAft>
                <a:spcPts val="600"/>
              </a:spcAft>
              <a:defRPr sz="1600">
                <a:solidFill>
                  <a:srgbClr val="6B6B72"/>
                </a:solidFill>
                <a:latin typeface="Calibri"/>
              </a:defRPr>
            </a:pPr>
            <a:r>
              <a:t>     Il pacco e arrivato -&gt; Neutro</a:t>
            </a:r>
          </a:p>
          <a:p>
            <a:pPr>
              <a:spcAft>
                <a:spcPts val="600"/>
              </a:spcAft>
              <a:defRPr sz="1600">
                <a:solidFill>
                  <a:srgbClr val="6B6B72"/>
                </a:solidFill>
                <a:latin typeface="Calibri"/>
              </a:defRPr>
            </a:pPr>
            <a:r>
              <a:t>     Fantastico servizio clienti -&gt; ?'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Tecnica 3: Chain-of-Thought (ragionamento passo-passo)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Cos'e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Chiedere all'AI di ragionare PASSO PER PASSO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Migliora la qualita su problemi complessi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Il modello 'mostra il suo lavoro'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Riduce gli errori di ragionamento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Esempio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Prompt: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'Un negozio vende magliette a 25 euro.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Sconto 20% + spedizione 5 euro.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Quanto paga il cliente?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Ragiona passo per passo.'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Tecnica 4: Role-playing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Cos'e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Assegnare un RUOLO specifico all'AI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Il modello adatta linguaggio e competenze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Uno dei trucchi piu potenti e semplici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Cambia drasticamente la qualita dell'output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Esempio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Prompt: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'Sei un nutrizionista sportivo con 20 anni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di esperienza. Un atleta amatoriale ti chiede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un piano alimentare per la settimana prima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di una maratona. Rispondi in modo chiaro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e pratico.'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Tecnica 5: Output strutturato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Chiedere esplicitamente un FORMATO specifico per la risposta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Formati utili: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Lista puntata o numerata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Tabella (con colonne specifiche)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JSON o CSV (per dati)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Email gia formattata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Schema con titoli e sottotitoli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Esempio: 'Crea una tabella con 3 colonne: Strumento, Pro, Contro.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Confronta ChatGPT, Claude e Gemini per uso in ufficio.'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Tecnica 6: Decomposizione del compito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Spezzare un compito COMPLESSO in sotto-compiti piu semplici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INVECE DI: 'Scrivi un business plan per un ristorante'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MEGLIO: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'Analizza il mercato della ristorazione a Milano'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'Definisci il target di clientela per un ristorante giapponese'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'Stima i costi di avvio per un locale da 40 posti'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'Scrivi l'executive summary basandoti su queste informazioni'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Ogni sotto-compito riceve piu attenzione e produce risultati migliori.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Tecnica 7: Vincoli e delimitazione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Aggiungere VINCOLI espliciti per controllare l'output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Vincoli di lunghezza: 'Rispondi in massimo 100 parole'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Vincoli di lingua: 'Rispondi in italiano formale'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Vincoli di contenuto: 'Non usare gergo tecnico'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Vincoli di esclusione: 'Non menzionare competitor'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Vincoli di pubblico: 'Scrivi per un pubblico non tecnico'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Senza vincoli, il modello decide da solo e spesso e troppo lungo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 generico. I vincoli sono il tuo volante.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Iterazione e raffinamento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Il primo prompt raramente e quello perfetto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Processo iterativo: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1. Scrivi il prompt iniziale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2. Leggi la risposta con occhio critico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3. Identifica cosa manca o cosa non va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4. RAFFINA il prompt aggiungendo contesto/vincoli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5. Ripeti fino a ottenere il risultato voluto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E una CONVERSAZIONE, non un comando unico!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Usa frasi come: 'Bene, ma ora rendi il tono piu informale'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oppure: 'Ottimo, aggiungi anche una sezione sui rischi'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Errori comuni nel prompting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TROPPO VAGO: 'Dimmi qualcosa sull'AI'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Aggiungi contesto e obiettivo specifico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TROPPO LUNGO: prompt di 500 parole con informazioni irrilevanti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Sii conciso ma completo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ASPETTATIVE IRREALISTICHE: 'Scrivi il mio intero libro'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Decomponere in sotto-compiti gestibili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NESSUN FORMATO: non specificare come vuoi la risposta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Sempre indicare il formato desiderato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NON ITERARE: accettare la prima risposta senza raffinare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&gt;&gt;&gt; Il prompt perfetto richiede 2-3 tentativi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Riepilogo tecniche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4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3338"/>
                <a:gridCol w="3393338"/>
                <a:gridCol w="3393338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Tecnica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Quando usarla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Livello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Compiti semplici e diretti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Few-shot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Serve un formato/pattern specifico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Chain-of-thought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Ragionamento, calcoli, analisi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Intermedio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Role-playing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Serve competenza di dominio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Output strutturato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Serve un formato preciso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Decomposizione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Compiti complessi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Intermedio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Vincoli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Controllare lunghezza/tono/stile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Iterazione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Sempre! Dopo ogni risposta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Base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2E88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1: Da prompt vaghi a prompt efficaci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Esercitazione pratica — 30 minuti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1: Email professionale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Prompt VAGO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'Scrivi un'email al capo'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Problemi: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Nessun contesto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Nessun obiettivo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Nessun tono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Quale capo? Per dire cosa?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Prompt EFFICACE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'Scrivi un'email formale al mio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responsabile di dipartimento per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richiedere 3 giorni di ferie dal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15 al 17 luglio. Menziona che il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progetto X sara completato entro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il 14. Tono professionale, max 150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parole.'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2: Riassunto di un documento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Prompt VAGO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'Riassumi questo testo'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Problemi: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Quanto lungo deve essere?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Per chi e il riassunto?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Quali aspetti evidenziare?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Che formato usare?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Prompt EFFICACE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'Riassumi il documento in 5 punti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chiave, ognuno di 1-2 frasi.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Il riassunto e per il direttore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commerciale che deve prendere una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decisione. Evidenzia costi, tempi e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rischi principali. Concludi con una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raccomandazione.'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2E88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 3: Analisi dati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5A1F"/>
                </a:solidFill>
                <a:latin typeface="Georgia"/>
              </a:defRPr>
            </a:pPr>
            <a:r>
              <a:t>Prompt VAGO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2286000"/>
            <a:ext cx="914400" cy="32004"/>
          </a:xfrm>
          <a:prstGeom prst="rect">
            <a:avLst/>
          </a:prstGeom>
          <a:solidFill>
            <a:srgbClr val="FF5A1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'Analizza questi dati di vendita'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Problemi: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Che tipo di analisi?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Quali metriche interessano?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Che confronti fare?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- Come presentare i risultati?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48463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5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29768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3CFF"/>
                </a:solidFill>
                <a:latin typeface="Georgia"/>
              </a:defRPr>
            </a:pPr>
            <a:r>
              <a:t>Prompt EFFICACE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286000"/>
            <a:ext cx="914400" cy="32004"/>
          </a:xfrm>
          <a:prstGeom prst="rect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68880"/>
            <a:ext cx="4297680" cy="31089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'Analizza i dati di vendita allegati.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Identifica: (1) i 3 prodotti con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maggiore crescita, (2) il mese con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il calo piu significativo, (3) trend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anno su anno. Presenta i risultati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in una tabella e concludi con 3</a:t>
            </a:r>
          </a:p>
          <a:p>
            <a:pPr>
              <a:spcAft>
                <a:spcPts val="600"/>
              </a:spcAft>
              <a:defRPr sz="1600">
                <a:solidFill>
                  <a:srgbClr val="2A2A2D"/>
                </a:solidFill>
                <a:latin typeface="Calibri"/>
              </a:defRPr>
            </a:pPr>
            <a:r>
              <a:t> ·  azioni suggerite.'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Il tuo turno: esercitati!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Apri ChatGPT o Claude e prova: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Scrivi un prompt VAGO per un compito a tua scelta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Osserva la risposta: cosa manca? Cosa non va?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Riscrivi il prompt usando le tecniche apprese: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Aggiungi un RUOLO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Specifica il CONTESTO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Definisci il FORMATO dell'output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Aggiungi VINCOLI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Confronta le due risposte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Tempo: 10 minuti. Poi condividiamo i risultati!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00C28A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2: Scenari lavorativi reali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00C28A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8 scenari pratici dal mondo del lavoro — 45 minuti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1: Brainstorming per un progetto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Contesto: Devi proporre idee innovative per il prossimo trimestre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consigliato: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'Sei un consulente strategico. La mia azienda vende software gestionale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PMI italiane. Il fatturato e stagnante da 2 trimestri.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Genera 10 idee creative per aumentare le vendite nel Q3,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considerando budget limitato e team di 5 persone.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ogni idea indica: azione, costo stimato (basso/medio/alto),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impatto atteso (1-5), tempi di implementazione.'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Prova su ChatGPT e Claude: quale ti da idee migliori?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2: Redazione di un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Contesto: Devi scrivere un report mensile per la direzione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consigliato: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'Scrivi un report executive di 1 pagina sui risultati del mese di giugno.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Dati: vendite +12%, nuovi clienti 45, churn 3%, NPS 72.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Struttura: Sintesi (3 righe), Risultati chiave (tabella),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Criticita (lista), Azioni per il mese prossimo (3 punti).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Tono professionale, numeri in evidenza, pronto per il CEO.'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Suggerimento: incolla dati reali (non sensibili) per risultati migliori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3: Traduzione e localizzazione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Contesto: Devi tradurre contenuti marketing per il mercato estero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consigliato: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'Traduci il seguente testo dall'italiano all'inglese britannico.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fare una traduzione letterale: adatta il tono al mercato UK.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Mantieni un registro professionale ma accessibile.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Se ci sono riferimenti culturali italiani, adattali al contesto UK.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Dopo la traduzione, segnala eventuali passaggi dove hai fatto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scelte di adattamento significative e perche.'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Il prompt 'adatta, non tradurre' fa tutta la differenza!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4: Supporto decisionale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Contesto: Devi scegliere tra due fornitori / opzioni / strategie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consigliato: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'Aiutami a decidere tra le opzioni A e B per [decisione].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Opzione A: [descrizione]. Opzione B: [descrizione].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 miei criteri: costo, qualita, tempi di consegna, scalabilita.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 una matrice decisionale pesata (tabella) con punteggio 1-5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ogni criterio. Concludi con una raccomandazione motivata.'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L'AI non decide per te, ma struttura il ragionamento!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5: Preparare una presentazione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Contesto: Devi creare una presentazione per un meeting interno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consigliato: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'Crea la struttura di una presentazione di 10 slide su [argomento].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Pubblico: dirigenti non tecnici. Durata: 15 minuti.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ogni slide indica: titolo, 3-4 bullet point con il contenuto,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suggerimento per un elemento visuale (grafico, icona, immagine).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La prima slide e il titolo, l'ultima e 'Prossimi passi'.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Tono: chiaro, orientato ai risultati, con dati dove possibile.'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6: Social media e comunicazione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Contesto: Devi creare contenuti per i social aziendali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consigliato: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'Sei un social media manager per un'azienda di [settore].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Crea 5 post per LinkedIn sul tema [argomento].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Ogni post deve: essere 100-150 parole, avere un hook iniziale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accattivante, includere una call-to-action finale,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usare 3-5 hashtag pertinenti. Alterna formati: testo puro,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lista puntata, domanda aperta, storytelling, dato statistico.'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Chiedi varianti fino a trovare il tono giusto per il tuo brand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7: Analisi feedback clienti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Contesto: Hai raccolto recensioni/feedback e devi analizzarli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consigliato: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'Analizza i seguenti feedback dei clienti [incolla feedback].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ciascuno classifica: sentiment (positivo/negativo/neutro),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tema principale (prodotto/servizio/prezzo/assistenza),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urgenza (alta/media/bassa).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Poi crea un riepilogo con: temi ricorrenti, punti critici,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suggerimenti di miglioramento prioritizzati, un indice di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soddisfazione generale stimato.'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Perfetto per trasformare dati qualitativi in insight azionabili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Scenario 8: Automazione risposte 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Contesto: Devi rispondere a email ripetitive (richieste info, conferme...)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Prompt consigliato: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'Crea 5 template di risposta email per le richieste piu comuni: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1. Richiesta informazioni sui nostri servizi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2. Conferma appuntamento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3. Sollecito pagamento (tono cortese)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4. Ringraziamento post-meeting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5. Risposta a reclamo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Per ogni template: oggetto, corpo (max 100 parole), tono professionale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ma cordiale. Includi segnaposti [NOME], [DATA], [DETTAGLIO].'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097280"/>
            <a:ext cx="3657600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0" b="0" i="1">
                <a:solidFill>
                  <a:srgbClr val="FFB800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80015" cy="2011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Georgia"/>
              </a:defRPr>
            </a:pPr>
            <a:r>
              <a:t>Lab 3: Confronto tra strumenti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846320"/>
            <a:ext cx="1371600" cy="45720"/>
          </a:xfrm>
          <a:prstGeom prst="rect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50749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Calibri"/>
              </a:defRPr>
            </a:pPr>
            <a:r>
              <a:t>Stesso prompt, risposte diverse — 30 minuti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630936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Sezione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Esercizio: prompt identico su 3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Scegli UNO degli scenari del Lab 2</a:t>
            </a: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Invia lo STESSO prompt a ChatGPT, Claude e HuggingChat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Valuta ogni risposta su questi criteri (1-5):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Pertinenza: risponde a cio che hai chiesto?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Completezza: copre tutti i punti richiesti?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Formato: rispetta la struttura richiesta?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Qualita: linguaggio chiaro, contenuto utile?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- Originalita: idee interessanti o risposta banale?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Compila la tabella di confronto nella scheda esercizi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FFB800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5486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Template confronto (compilalo tu!)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5840" y="1737360"/>
          <a:ext cx="10180012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3"/>
              </a:tblGrid>
              <a:tr h="43891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Criterio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ChatGPT (1-5)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Claude (1-5)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HuggingChat (1-5)</a:t>
                      </a:r>
                    </a:p>
                  </a:txBody>
                  <a:tcPr>
                    <a:solidFill>
                      <a:srgbClr val="0B0B0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Pertinenza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Completezza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Formato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Qualita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Originalita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  <a:r>
                        <a:t>TOTALE</a:t>
                      </a: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A2A2D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" y="512064"/>
            <a:ext cx="91440" cy="91440"/>
          </a:xfrm>
          <a:prstGeom prst="ellipse">
            <a:avLst/>
          </a:prstGeom>
          <a:solidFill>
            <a:srgbClr val="1E3CF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457200"/>
            <a:ext cx="54864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Corso AI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00584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B0B0C"/>
                </a:solidFill>
                <a:latin typeface="Georgia"/>
              </a:defRPr>
            </a:pPr>
            <a:r>
              <a:t>Quando usare quale strumento?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600200"/>
            <a:ext cx="10180015" cy="10972"/>
          </a:xfrm>
          <a:prstGeom prst="rect">
            <a:avLst/>
          </a:prstGeom>
          <a:solidFill>
            <a:srgbClr val="E6E5DF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80015" cy="42976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Non esiste un tool 'migliore in assoluto' — dipende dal compito: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ChatGPT eccelle in: uso generico, navigazione web, generazione immagini,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ampio ecosistema di plugin, community vastissima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Claude eccelle in: analisi di documenti lunghi, qualita della scrittura,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precisione nelle istruzioni, ragionamento strutturato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HuggingChat eccelle in: accesso gratuito illimitato, sperimentazione</a:t>
            </a:r>
          </a:p>
          <a:p>
            <a:pPr>
              <a:spcAft>
                <a:spcPts val="700"/>
              </a:spcAft>
              <a:defRPr sz="1900">
                <a:solidFill>
                  <a:srgbClr val="6B6B72"/>
                </a:solidFill>
                <a:latin typeface="Calibri"/>
              </a:defRPr>
            </a:pPr>
            <a:r>
              <a:t>     con modelli diversi, privacy (puo funzionare senza login)</a:t>
            </a:r>
          </a:p>
          <a:p>
            <a:pPr>
              <a:spcAft>
                <a:spcPts val="200"/>
              </a:spcAft>
              <a:defRPr sz="800"/>
            </a:pPr>
          </a:p>
          <a:p>
            <a:pPr>
              <a:spcAft>
                <a:spcPts val="700"/>
              </a:spcAft>
              <a:defRPr sz="1900">
                <a:solidFill>
                  <a:srgbClr val="2A2A2D"/>
                </a:solidFill>
                <a:latin typeface="Calibri"/>
              </a:defRPr>
            </a:pPr>
            <a:r>
              <a:t> ·  &gt;&gt;&gt; Il prompt engineer esperto sa scegliere lo strumento giusto!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0B0B0C"/>
                </a:solidFill>
                <a:latin typeface="Georgia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6B6B72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640080"/>
            <a:ext cx="2743200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RIEPILOGO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960120"/>
            <a:ext cx="10180015" cy="64008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200" b="1" i="1">
                <a:solidFill>
                  <a:srgbClr val="FFFFFF"/>
                </a:solidFill>
                <a:latin typeface="Georgia"/>
              </a:defRPr>
            </a:pPr>
            <a:r>
              <a:t>Concetti chiave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69164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10180015" cy="41148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Un buon prompt ha: ruolo, contesto, compito, formato, tono, vincoli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Le tecniche chiave: zero-shot, few-shot, chain-of-thought, role-playing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L'output strutturato e i vincoli sono i tuoi migliori alleati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Iterare e raffinare e normale e necessario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Ogni strumento ha punti di forza diversi — scegli in base al compito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 ·  La pratica costante e l'unico modo per migliorare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71600"/>
            <a:ext cx="10180015" cy="36576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6FF3D"/>
                </a:solidFill>
                <a:latin typeface="Consolas"/>
              </a:defRPr>
            </a:pPr>
            <a:r>
              <a:t>PROSSIMO MODULO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180015" cy="22860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FFFFF"/>
                </a:solidFill>
                <a:latin typeface="Georgia"/>
              </a:defRPr>
            </a:pPr>
            <a:r>
              <a:t>Modulo 3: ChatGPT</a:t>
            </a:r>
            <a:br/>
            <a:r>
              <a:t>Padroneggiare lo strumento piu diffuso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4754880"/>
            <a:ext cx="137160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2011680"/>
            <a:ext cx="10180015" cy="137160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9600" b="1" i="1">
                <a:solidFill>
                  <a:srgbClr val="FFFFFF"/>
                </a:solidFill>
                <a:latin typeface="Georgia"/>
              </a:defRPr>
            </a:pPr>
            <a:r>
              <a:t>Domande?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3657600"/>
            <a:ext cx="2103120" cy="45720"/>
          </a:xfrm>
          <a:prstGeom prst="rect">
            <a:avLst/>
          </a:prstGeom>
          <a:solidFill>
            <a:srgbClr val="C6FF3D"/>
          </a:solidFill>
          <a:ln w="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4023360"/>
            <a:ext cx="10180015" cy="7315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ctr">
              <a:defRPr sz="2200" b="0" i="0">
                <a:solidFill>
                  <a:srgbClr val="B5B5BC"/>
                </a:solidFill>
                <a:latin typeface="Calibri"/>
              </a:defRPr>
            </a:pPr>
            <a:r>
              <a:t>Non esistono domande stupide.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309360"/>
            <a:ext cx="10180015" cy="27432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B6B72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309360"/>
            <a:ext cx="91440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r">
              <a:defRPr sz="2000" b="1" i="0">
                <a:solidFill>
                  <a:srgbClr val="FFFFFF"/>
                </a:solidFill>
                <a:latin typeface="Georgia"/>
              </a:defRPr>
            </a:pPr>
            <a:r>
              <a:t>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463040" cy="320040"/>
          </a:xfrm>
          <a:prstGeom prst="rect">
            <a:avLst/>
          </a:prstGeom>
          <a:noFill/>
          <a:ln w="0">
            <a:noFill/>
          </a:ln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B5B5BC"/>
                </a:solidFill>
                <a:latin typeface="Georgia"/>
              </a:defRPr>
            </a:pPr>
            <a:r>
              <a:t>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