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7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Hallucinations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 US attorney cited 6 court rulings in a brief — all invented by ChatGPT; ChatGPT fabricated scientific papers with DOIs and non-existent authors; AI models have generated biographies containing events that never happened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The model does NOT access a database of facts; 2. Trained to be FLUENT, not necessarily ACCURATE; 3. It cannot distinguish between 'I know' and 'I don't know'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WARNING SIGNS:; Overly specific details about verifiable facts; Overly confident answers on controversial or niche topics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CROSS-CHECK: compare the response with reliable sources; 2. ASK FOR SOURCES: 'Cite the sources for this information'; 3. ASK TWICE: ask the same question again in a new chat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Bias and Fairness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FROM THE TRAINING DATA; 2. FROM THOSE WHO SELECT THE DATA; 3. FROM HUMAN FEEDBACK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Amazon: a resume-screening system penalized female applicants; Image generation: 'CEO' predominantly generates white men; Translation: gender-neutral languages translated with stereotypes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AWARENESS: knowing that bias exists is the first step; 2. INCLUSIVE PROMPTS: avoid specifying gender/ethnicity when unnecessary; 3. CHECK THE OUTPUTS: if the AI produces lists of names, profiles, examples,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Privacy and Sensitive Data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When you enter text into ChatGPT, Claude, or other tools:; 1. The data is SENT to the provider's servers (USA or Europe); 2. It may be USED TO TRAIN the model (depends on the plan)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PERSONALLY IDENTIFIABLE DATA; CONFIDENTIAL BUSINESS DATA; CUSTOMER DATA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GDPR (General Data Protection Regulation) also applies to AI; Key points:; &gt;&gt;&gt; When in doubt, consult your organization's DPO (Data Protection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ANONYMIZE: replace real names with fictitious ones before pasting; 2. GENERALIZE: remove identifying details that are not necessary; 3. SEGMENT: send only the portion of data strictly necessary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Copyright and Intellectual Property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legal landscape is still EVOLVING globally; Current positions:; In practice for business use: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UNINTENTIONAL PLAGIARISM: the model can reproduce protected texts; 2. TRADEMARKS AND LOGOS: do not use AI to create logos similar to existing trademarks; 3. ATTRIBUTION: if you use AI to write official articles/reports,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Do not publish AI output without human review and editing; 2. Always check that the output is not too similar to known sources; 3. When required, disclose the use of AI in content creation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EU AI Act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AI Act classifies AI systems into 4 risk levels:; UNACCEPTABLE RISK (PROHIBITED); HIGH RISK (REGULATED)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What changes for those who USE AI in business (not just producers):; 1. TRANSPARENCY: you must inform when content is generated by AI; 2. HUMAN OVERSIGHT: high-impact decisions require human review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Hands-on Lab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Without a clear policy, every employee decides on their own:; A corporate policy: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PURPOSE AND SCOPE: who it applies to, for which activities; 2. AUTHORIZED TOOLS: list of approved tools and permitted plans; 3. PROHIBITED DATA: clear list of what NOT to enter into AI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In groups of 2-3 people:; 1. Choose a sample company (yours or a fictitious one); 2. Use the template from the previous slide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After the presentations, let's discuss together:; - Which elements are COMMON to all policies?; - What differences emerged between different sectors?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Responsible AI: Limits, Risks, and Best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2 hours  |  1.5h Theory + 0.5h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07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Hallucinations: the number-one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Bias and fairness: when AI discriminates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Privacy and sensitive data: what NOT to give the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Copyright and intellectual property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EU AI Act: the European regulation (overview)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Lab: creating a corporate AI usage 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Recap and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Hallucinations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When AI invents with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 hallucination is an AI response that sounds</a:t>
            </a:r>
            <a:br/>
            <a:r>
              <a:t>plausible and confident, yet is partially</a:t>
            </a:r>
            <a:br/>
            <a:r>
              <a:t>or completely FALSE.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The model does not 'know' it is making things up. It is simply generating statistically likely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Real-world examples of hallucinations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 US attorney cited 6 court rulings in a brief — all invented by ChatGPT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None of the rulings existed. He was sanctioned by the judge.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fabricated scientific papers with DOIs and non-existent authors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Perfect formatting, entirely false content.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 models have generated biographies containing events that never happened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Dates, locations, and details that are plausible but fabricated.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Google Bard claimed the James Webb Space Telescope took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first photo of an exoplanet (false — it was SPHERE/VLT).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This error during the launch demo caused a stock price drop.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Why do hallucinations happen?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The model does NOT access a database of facts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generates statistically probable text; it does not 'search' for truth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Trained to be FLUENT, not necessarily ACCURATE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Fluent and convincing text is not necessarily correct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It cannot distinguish between 'I know' and 'I don't know'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lacks a natural 'uncertainty' mechanism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Training patterns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it has seen many texts with a certain pattern, it reproduces it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even when the specific details are fabricated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How to spot hallucinations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WARNING SIGNS: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Overly specific details about verifiable facts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(dates, names, numbers, citations with precise references)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Overly confident answers on controversial or niche topics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Information you cannot confirm with a web search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Internal inconsistencies within the same response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Bibliographic citations with very specific titles and DOIs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If it seems too precise to be true, VERIFY!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Anti-hallucination verification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CROSS-CHECK: compare the response with reliable sources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Google, Wikipedia, official websites, internal documents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ASK FOR SOURCES: 'Cite the sources for this information'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the sources don't exist, it's a hallucination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ASK TWICE: ask the same question again in a new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Very different answers = probable hallucination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USE MULTIPLE TOOLS: compare ChatGPT, Claude, web search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GOLDEN RULE: never publish, send, or make decisions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based solely on AI output without human verification!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Bias and Fairness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When AI reproduces prejudices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Algorithmic bias is the tendency of an AI model</a:t>
            </a:r>
            <a:br/>
            <a:r>
              <a:t>to produce systematically skewed results</a:t>
            </a:r>
            <a:br/>
            <a:r>
              <a:t>that favor or disadvantage certain groups.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AI does not 'choose' to discriminate: it reflects the prejudices present in the training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Where does bias come from?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FROM THE TRAINING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internet is not neutral: it contains stereotypes, under-representations,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dominant cultural perspectives (Anglocentrism, etc.)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FROM THOSE WHO SELECT THE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Choices about what to include or exclude introduce distortions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FROM HUMAN FEEDBACK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human evaluators used to refine models bring their own biases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FROM THE PROMPT ITSELF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How we phrase the question can steer 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Real-world examples of AI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Amazon: a resume-screening system penalized female applicants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Trained on 10 years of predominantly male hiring data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Image generation: 'CEO' predominantly generates white men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Reflects the imbalance present in online images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Translation: gender-neutral languages translated with stereotypes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'O bir doktor' (Turkish, neutral) translated as 'He is a doctor'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Chatbots: different responses depending on the user's name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'Ethnic' names sometimes receive less detailed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How to mitigate bias in everyday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AWARENESS: knowing that bias exists is the first step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INCLUSIVE PROMPTS: avoid specifying gender/ethnicity when unnecessary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CHECK THE OUTPUTS: if the AI produces lists of names, profiles, examples,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verify they are diverse and representative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TEST WITH VARIATIONS: change the name, gender, or origin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 the prompt and check whether the response changes unfairly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REPORT: major providers have channels for reporting bias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(feedback features in their products)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Privacy and Sensitive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What happens to the data you enter into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What happens to your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When you enter text into ChatGPT, Claude, or other tools: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The data is SENT to the provider's servers (USA or Europe)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It may be USED TO TRAIN the model (depends on the plan)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Free: YES, by default (can be turned off)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Plus/Enterprise: 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Claude Free: may use data for service improvement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Claude Pro: no training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Data is RETAINED for a variable period (logs, debugging, security)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Provider staff MAY view it (quality/security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Data you must NEVER enter into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PERSONALLY IDENTIFIABLE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Social security numbers, credit card numbers, passwords, health records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CONFIDENTIAL BUSINESS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Strategic plans, non-public financial data, contracts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CUSTOMER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Names + sensitive data, emails with personal information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PROPRIETARY SOURCE CODE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Core algorithms, credentials, API keys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PRIVILEGED LEGAL INFORMATION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Ongoing litigation, NDA agreements, confidential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Privacy policies of major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Free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Enterprise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Pro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Training on user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(can be disabled)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Data retention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Human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Possible (security)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Data location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USA/EU (option)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GDPR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Encryption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 transit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 transit + at rest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 transit + at rest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GDPR and AI: what you need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GDPR (General Data Protection Regulation) also applies to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Key points: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Entering third-party personal data into AI requires a legal basis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company is RESPONSIBLE for data entered by its employees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Right to erasure: you can request the deletion of your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Automated profiling: right not to be subject to decisions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based solely on automated processing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When in doubt, consult your organization's DPO (Data Protection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Officer) BEFORE using personal data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Best practices for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ANONYMIZE: replace real names with fictitious ones before pasting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'John Smith, SSN 123-45-6789' &gt;&gt;&gt; 'Client A, SSN XXXXXXXXX'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GENERALIZE: remove identifying details that are not necessary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'Order #45231 from 15 Main St, Boston' &gt;&gt;&gt; 'Customer order, northeast city'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SEGMENT: send only the portion of data strictly necessary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CHECK YOUR SETTINGS: disable training on your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(ChatGPT: Settings &gt; Data controls &gt; Improve the model)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USE ENTERPRISE PLANS whenever possible for business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Copyright and Intellectual Property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Who owns what AI produces?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Who owns AI output?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legal landscape is still EVOLVING globally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Current positions: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USA: pure AI output is not patentable/copyrightable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(significant human input may make the work protectable)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EU: situation being defined under the AI Act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Other jurisdictions: no specific legislation yet in many countries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practice for business use: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AI output is a STARTING POINT, not a finished product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If you substantially modify it, your work is protected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Providers (OpenAI, Anthropic) do not claim rights over the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Legal risks to be aware of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UNINTENTIONAL PLAGIARISM: the model can reproduce protected texts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it publishes material too similar to existing sources, you risk disputes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TRADEMARKS AND LOGOS: do not use AI to create logos similar to existing trademarks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ATTRIBUTION: if you use AI to write official articles/reports,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your organization may require disclosure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LIABILITY: AI output containing errors is YOUR RESPONSIBILITY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you publish false information generated by AI, you are accountable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AI generates, YOU verify and assume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Guidelines for copyright-safe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Do not publish AI output without human review and editing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Always check that the output is not too similar to known sources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When required, disclose the use of AI in content creation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Do not use AI to circumvent paywalls or reproduce protected content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For critical content (legal, medical, financial), have experts validate it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Keep the prompts you used as documentation of the creative process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PRACTICAL RULE: if you would not sign it with your name,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 not publish it. AI is an assistant, not an author.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EU AI 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European regulation on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EU AI ACT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The first law in the world that comprehensively</a:t>
            </a:r>
            <a:br/>
            <a:r>
              <a:t>regulates Artificial Intelligence.</a:t>
            </a:r>
            <a:br/>
            <a:r>
              <a:t>Phased implementation from 2025 to 2027.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It applies not only to AI producers but also to those who USE it in professional contexts.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Risk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AI Act classifies AI systems into 4 risk levels: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UNACCEPTABLE RISK (PROHIBITED)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Social scoring, subliminal manipulation, mass biometric surveillance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HIGH RISK (REGULATED)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Personnel selection, credit, healthcare, justice, education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LIMITED RISK (TRANSPARENCY OBLIGATIONS)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Chatbots, deepfakes, generated content &gt;&gt;&gt; must disclose AI use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MINIMAL RISK (NO OBLIGATIONS)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Spam filters, video games, product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Practical impacts for businesses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What changes for those who USE AI in business (not just producers):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TRANSPARENCY: you must inform when content is generated by 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Example: a customer service chatbot must disclose it is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HUMAN OVERSIGHT: high-impact decisions require human review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Example: resume screening with AI requires validation by a human HR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DOCUMENTATION: keep records of how and why AI is used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TRAINING: employees who use AI must be trained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(and this course is a first step!)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Penalties can reach up to 7% of global annual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Creating a corporate AI usage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Why do you need a corporate policy?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Without a clear policy, every employee decides on their own: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data to enter (privacy risk)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How to use the output (quality risk)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Whether to disclose AI use (transparency risk)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tools to use (security risk)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 corporate policy: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Protects the company from legal risks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Gives clear guidelines to employees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Enables responsible and productive AI use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Demonstrates regulatory compliance (AI 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Template: sections of an AI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PURPOSE AND SCOPE: who it applies to, for which activities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AUTHORIZED TOOLS: list of approved tools and permitted plans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PROHIBITED DATA: clear list of what NOT to enter into AI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OUTPUT VERIFICATION: mandatory human review before publication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TRANSPARENCY: when and how to disclose AI use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TRAINING: minimum requirements for employees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7. RESPONSIBILITY: who is accountable for errors in AI output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8. REVIEW: how often the policy should be updated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Use ChatGPT or Claude to create an initial draft, then customize 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write your own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groups of 2-3 people: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Choose a sample company (yours or a fictitious one)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Use the template from the previous slide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Ask Claude or ChatGPT to generate an initial draft: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 corporate policy for the use of generative AI in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 [sector] company with [N] employees. The policy must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cover: authorized tools, prohibited data, verification obligation,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transparency, training. Formal tone, max 1 page.'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Review and customize the draft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Present your policy to the group (5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Discussion: comparing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the presentations, let's discuss together: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Which elements are COMMON to all policies?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What differences emerged between different sectors?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Was the AI-generated draft already good or did it require a lot of work?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What would you add after this discussion?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TAKEAWAY: a good policy is a LIVING DOCUMENT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that must be updated as technology evolves.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Plan a review at least every 6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Hallucinations are inevitable: ALWAYS VERIFY before trusting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Bias exists in the data and is reflected in AI: be aware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Never enter personal, confidential, or sensitive data into AI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AI output is YOUR RESPONSIBILITY: AI assists, you decide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EU AI Act mandates transparency, oversight, and training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 clear corporate policy protects you and your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8: Final Project</a:t>
            </a:r>
            <a:br/>
            <a:r>
              <a:t>Put everything you have learned into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