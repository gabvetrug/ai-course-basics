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2 OPENING</a:t>
            </a:r>
          </a:p>
          <a:p/>
          <a:p>
            <a:r>
              <a:t>· Introduce the module and its objectives</a:t>
            </a:r>
          </a:p>
          <a:p>
            <a:r>
              <a:t>· Verify everyone has access to the tools</a:t>
            </a:r>
          </a:p>
          <a:p>
            <a:r>
              <a:t>· Preview the structure: theory first, then hands-on</a:t>
            </a:r>
          </a:p>
          <a:p>
            <a:r>
              <a:t>· Suggested time: 2-3 minutes</a:t>
            </a:r>
          </a:p>
          <a:p/>
          <a:p>
            <a:r>
              <a:t>Opening question: 'Has anyone used AI tools this week?'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</a:t>
            </a:r>
          </a:p>
          <a:p/>
          <a:p>
            <a:r>
              <a:t>· Walk through each agenda item briefly</a:t>
            </a:r>
          </a:p>
          <a:p>
            <a:r>
              <a:t>· Point out the hands-on labs and breaks</a:t>
            </a:r>
          </a:p>
          <a:p>
            <a:r>
              <a:t>· Ask if there are any particular expectations</a:t>
            </a:r>
          </a:p>
          <a:p>
            <a:r>
              <a:t>· Suggested time: 2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What Is Prompt Engineering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CONCEPT</a:t>
            </a:r>
          </a:p>
          <a:p/>
          <a:p>
            <a:r>
              <a:t>&gt;&gt;&gt; PAUSE HERE — Give time to read &lt;&lt;&lt;</a:t>
            </a:r>
          </a:p>
          <a:p/>
          <a:p>
            <a:r>
              <a:t>· This slide contains a fundamental concept</a:t>
            </a:r>
          </a:p>
          <a:p>
            <a:r>
              <a:t>· Read the text aloud, then paraphrase</a:t>
            </a:r>
          </a:p>
          <a:p>
            <a:r>
              <a:t>· Ask: 'Can someone rephrase this in their own words?'</a:t>
            </a:r>
          </a:p>
          <a:p>
            <a:r>
              <a:t>· Make sure everyone understands before moving on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The SAME tool can deliver terrible or excellent results; The difference is not the model, but HOW you talk to it; Vague prompt: 'Write something about marketing'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The prompt is your ONLY interface with the AI model; You cannot 'show' what you want — you must DESCRIBE it in words; Think of the prompt as a brief for a colleague: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An effective prompt has up to 6 components:; 1. ROLE — Who the AI should be (e.g., 'You are a marketing expert'); 2. CONTEXT — Relevant background information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Fundamental techniques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COMPARISON: AI Basics Course</a:t>
            </a:r>
          </a:p>
          <a:p/>
          <a:p>
            <a:r>
              <a:t>· Present the left side first, then the right</a:t>
            </a:r>
          </a:p>
          <a:p>
            <a:r>
              <a:t>· Highlight the key differences</a:t>
            </a:r>
          </a:p>
          <a:p>
            <a:r>
              <a:t>· Ask participants which they prefer and why</a:t>
            </a:r>
          </a:p>
          <a:p>
            <a:r>
              <a:t>· Stay neutral: the message is 'it depends on context'</a:t>
            </a:r>
          </a:p>
          <a:p>
            <a:r>
              <a:t>· Suggested time: 3-4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COMPARISON: AI Basics Course</a:t>
            </a:r>
          </a:p>
          <a:p/>
          <a:p>
            <a:r>
              <a:t>· Present the left side first, then the right</a:t>
            </a:r>
          </a:p>
          <a:p>
            <a:r>
              <a:t>· Highlight the key differences</a:t>
            </a:r>
          </a:p>
          <a:p>
            <a:r>
              <a:t>· Ask participants which they prefer and why</a:t>
            </a:r>
          </a:p>
          <a:p>
            <a:r>
              <a:t>· Stay neutral: the message is 'it depends on context'</a:t>
            </a:r>
          </a:p>
          <a:p>
            <a:r>
              <a:t>· Suggested time: 3-4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COMPARISON: AI Basics Course</a:t>
            </a:r>
          </a:p>
          <a:p/>
          <a:p>
            <a:r>
              <a:t>· Present the left side first, then the right</a:t>
            </a:r>
          </a:p>
          <a:p>
            <a:r>
              <a:t>· Highlight the key differences</a:t>
            </a:r>
          </a:p>
          <a:p>
            <a:r>
              <a:t>· Ask participants which they prefer and why</a:t>
            </a:r>
          </a:p>
          <a:p>
            <a:r>
              <a:t>· Stay neutral: the message is 'it depends on context'</a:t>
            </a:r>
          </a:p>
          <a:p>
            <a:r>
              <a:t>· Suggested time: 3-4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COMPARISON: AI Basics Course</a:t>
            </a:r>
          </a:p>
          <a:p/>
          <a:p>
            <a:r>
              <a:t>· Present the left side first, then the right</a:t>
            </a:r>
          </a:p>
          <a:p>
            <a:r>
              <a:t>· Highlight the key differences</a:t>
            </a:r>
          </a:p>
          <a:p>
            <a:r>
              <a:t>· Ask participants which they prefer and why</a:t>
            </a:r>
          </a:p>
          <a:p>
            <a:r>
              <a:t>· Stay neutral: the message is 'it depends on context'</a:t>
            </a:r>
          </a:p>
          <a:p>
            <a:r>
              <a:t>· Suggested time: 3-4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Explicitly request a SPECIFIC FORMAT for the response; Useful formats:; Example: 'Create a table with 3 columns: Tool, Pros, Cons.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Breaking a COMPLEX task into simpler sub-tasks; INSTEAD OF: 'Write my entire business plan for a restaurant'; BETTER: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Adding EXPLICIT constraints to control the output; Length constraints: 'Respond in 100 words or fewer'; Language constraints: 'Respond in formal English'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The first prompt is rarely the perfect one; Iterative process:; It is a CONVERSATION, not a one-off command!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1. TOO VAGUE: 'Tell me something about AI'; 2. TOO LONG: a 500-word prompt with irrelevant information; 3. UNREALISTIC EXPECTATIONS: 'Write my entire book'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TABLE: AI Basics Course</a:t>
            </a:r>
          </a:p>
          <a:p/>
          <a:p>
            <a:r>
              <a:t>· Don't read the whole table — highlight 2-3 key rows</a:t>
            </a:r>
          </a:p>
          <a:p>
            <a:r>
              <a:t>· Ask participants to find the most surprising data point</a:t>
            </a:r>
          </a:p>
          <a:p>
            <a:r>
              <a:t>· Leave the table visible for a few seconds for reading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Lab 1: From vague prompts to effective prompts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COMPARISON: AI Basics Course</a:t>
            </a:r>
          </a:p>
          <a:p/>
          <a:p>
            <a:r>
              <a:t>· Present the left side first, then the right</a:t>
            </a:r>
          </a:p>
          <a:p>
            <a:r>
              <a:t>· Highlight the key differences</a:t>
            </a:r>
          </a:p>
          <a:p>
            <a:r>
              <a:t>· Ask participants which they prefer and why</a:t>
            </a:r>
          </a:p>
          <a:p>
            <a:r>
              <a:t>· Stay neutral: the message is 'it depends on context'</a:t>
            </a:r>
          </a:p>
          <a:p>
            <a:r>
              <a:t>· Suggested time: 3-4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COMPARISON: AI Basics Course</a:t>
            </a:r>
          </a:p>
          <a:p/>
          <a:p>
            <a:r>
              <a:t>· Present the left side first, then the right</a:t>
            </a:r>
          </a:p>
          <a:p>
            <a:r>
              <a:t>· Highlight the key differences</a:t>
            </a:r>
          </a:p>
          <a:p>
            <a:r>
              <a:t>· Ask participants which they prefer and why</a:t>
            </a:r>
          </a:p>
          <a:p>
            <a:r>
              <a:t>· Stay neutral: the message is 'it depends on context'</a:t>
            </a:r>
          </a:p>
          <a:p>
            <a:r>
              <a:t>· Suggested time: 3-4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COMPARISON: AI Basics Course</a:t>
            </a:r>
          </a:p>
          <a:p/>
          <a:p>
            <a:r>
              <a:t>· Present the left side first, then the right</a:t>
            </a:r>
          </a:p>
          <a:p>
            <a:r>
              <a:t>· Highlight the key differences</a:t>
            </a:r>
          </a:p>
          <a:p>
            <a:r>
              <a:t>· Ask participants which they prefer and why</a:t>
            </a:r>
          </a:p>
          <a:p>
            <a:r>
              <a:t>· Stay neutral: the message is 'it depends on context'</a:t>
            </a:r>
          </a:p>
          <a:p>
            <a:r>
              <a:t>· Suggested time: 3-4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Open ChatGPT or Claude and try:; 1. Write a VAGUE prompt for a task of your choice; 2. Observe the response: what is missing? What went wrong?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Lab 2: Real-world work scenarios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Context: You need to propose innovative ideas for the next quarter; Suggested prompt:; 'You are a strategic consultant. My company sells business management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Context: You need to write a monthly report for management; Suggested prompt:; 'Write a 1-page executive report on June results.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Context: You need to translate marketing content for a foreign market; Suggested prompt:; 'Translate the following text from English to French.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Context: You need to choose between two vendors / options / strategies; Suggested prompt:; 'Help me decide between option A and option B for [decision].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Context: You need to create a presentation for an internal meeting; Suggested prompt:; 'Create the structure of a 10-slide presentation on [topic].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Context: You need to create content for corporate social media; Suggested prompt:; 'You are a social media manager for a company in [industry].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Context: You have collected reviews/feedback and need to analyze them; Suggested prompt:; 'Analyze the following customer feedback [paste feedback].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Context: You need to reply to repetitive emails (info requests, confirmations...); Suggested prompt:; 'Create 5 email response templates for the most common requests: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Lab 3: Comparing tools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Choose ONE of the scenarios from Lab 2; Send the SAME prompt to ChatGPT, Claude and HuggingChat; Evaluate each response on these criteria (1-5):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TABLE: AI Basics Course</a:t>
            </a:r>
          </a:p>
          <a:p/>
          <a:p>
            <a:r>
              <a:t>· Don't read the whole table — highlight 2-3 key rows</a:t>
            </a:r>
          </a:p>
          <a:p>
            <a:r>
              <a:t>· Ask participants to find the most surprising data point</a:t>
            </a:r>
          </a:p>
          <a:p>
            <a:r>
              <a:t>· Leave the table visible for a few seconds for reading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There is no tool that is 'the best overall' — it depends on the task:; ChatGPT excels at: general use, web browsing, image generation,; Claude excels at: analyzing long documents, writing quality,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RECAP</a:t>
            </a:r>
          </a:p>
          <a:p/>
          <a:p>
            <a:r>
              <a:t>· Go through each point quickly — DON'T re-explain everything</a:t>
            </a:r>
          </a:p>
          <a:p>
            <a:r>
              <a:t>· Ask: 'What concept stood out the most?'</a:t>
            </a:r>
          </a:p>
          <a:p>
            <a:r>
              <a:t>· Ask: 'Is there anything that's still unclear?'</a:t>
            </a:r>
          </a:p>
          <a:p>
            <a:r>
              <a:t>· If there are doubts, clarify now before moving on</a:t>
            </a:r>
          </a:p>
          <a:p>
            <a:r>
              <a:t>· Suggested time: 3-4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MODULE PREVIEW</a:t>
            </a:r>
          </a:p>
          <a:p/>
          <a:p>
            <a:r>
              <a:t>· Briefly preview what's coming next</a:t>
            </a:r>
          </a:p>
          <a:p>
            <a:r>
              <a:t>· Build curiosity without giving too much away</a:t>
            </a:r>
          </a:p>
          <a:p>
            <a:r>
              <a:t>· Announce the break if scheduled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SESSION</a:t>
            </a:r>
          </a:p>
          <a:p/>
          <a:p>
            <a:r>
              <a:t>· Open the floor: 'Any questions?'</a:t>
            </a:r>
          </a:p>
          <a:p>
            <a:r>
              <a:t>· If nobody asks, prompt with:</a:t>
            </a:r>
          </a:p>
          <a:p>
            <a:r>
              <a:t>  'Which tool do you think you'll use first at work?'</a:t>
            </a:r>
          </a:p>
          <a:p>
            <a:r>
              <a:t>· Manage time: max 5 minutes</a:t>
            </a:r>
          </a:p>
          <a:p>
            <a:r>
              <a:t>· If too many questions, offer to continue during the break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 ·  Full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457200"/>
            <a:ext cx="46936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005840"/>
            <a:ext cx="1280160" cy="274320"/>
          </a:xfrm>
          <a:prstGeom prst="round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B0B0C"/>
                </a:solidFill>
                <a:latin typeface="Consolas"/>
              </a:defRPr>
            </a:pPr>
            <a:r>
              <a:t>ChatGPT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005840"/>
            <a:ext cx="1280160" cy="274320"/>
          </a:xfrm>
          <a:prstGeom prst="round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Claude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005840"/>
            <a:ext cx="1280160" cy="274320"/>
          </a:xfrm>
          <a:prstGeom prst="round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Open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005840"/>
            <a:ext cx="1280160" cy="274320"/>
          </a:xfrm>
          <a:prstGeom prst="roundRect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Prompt Eng.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645920"/>
            <a:ext cx="10180015" cy="16459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1" i="0">
                <a:solidFill>
                  <a:srgbClr val="0B0B0C"/>
                </a:solidFill>
                <a:latin typeface="Georgia"/>
              </a:defRPr>
            </a:pPr>
            <a:r>
              <a:t>Module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3383280"/>
            <a:ext cx="2286000" cy="54864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5760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1">
                <a:solidFill>
                  <a:srgbClr val="2A2A2D"/>
                </a:solidFill>
                <a:latin typeface="Georgia"/>
              </a:defRPr>
            </a:pPr>
            <a:r>
              <a:t>Prompt Engineering: the art of asking well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30936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  |  Duration: 3 hours  |  1h Theory + 2h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Agenda  ·  08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4572000" cy="822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7200" b="1" i="0">
                <a:solidFill>
                  <a:srgbClr val="0B0B0C"/>
                </a:solidFill>
                <a:latin typeface="Georgia"/>
              </a:defRPr>
            </a:pPr>
            <a:r>
              <a:t>The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822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7200" b="0" i="1">
                <a:solidFill>
                  <a:srgbClr val="FF5A1F"/>
                </a:solidFill>
                <a:latin typeface="Georgia"/>
              </a:defRPr>
            </a:pPr>
            <a:r>
              <a:t>syllabus.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14600"/>
            <a:ext cx="4114800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What we'll cover in this module.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0058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0972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0972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What is Prompt Engineering and why it matters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6916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7830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7830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Anatomy of a good prompt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3774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24688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4688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Fundamental techniques: zero-shot, few-shot, chain-of-thought, role-playing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30632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31546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1546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Lab 1: turning vague prompts into effective prompts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3749039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38404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8404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Lab 2: real-world work scenarios (8 exercises)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44348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45262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5262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Lab 3: comparing tools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51206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0" y="52120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2120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Common mistakes and how to avoid them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5A1F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What Is Prompt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The most important skill of the AI 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Key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B6B72"/>
                </a:solidFill>
                <a:latin typeface="Consolas"/>
              </a:defRPr>
            </a:pPr>
            <a: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80015" cy="27432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0">
                <a:solidFill>
                  <a:srgbClr val="0B0B0C"/>
                </a:solidFill>
                <a:latin typeface="Georgia"/>
              </a:defRPr>
            </a:pPr>
            <a:r>
              <a:t>Prompt Engineering is the art of crafting</a:t>
            </a:r>
            <a:br/>
            <a:r>
              <a:t>effective instructions to get exactly</a:t>
            </a:r>
            <a:br/>
            <a:r>
              <a:t>the desired result from AI.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6634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9204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You don't need to know how to code. You need to know how to communicate with precision.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Why Prompt Engineering is so important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The SAME tool can deliver terrible or excellent results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The difference is not the model, but HOW you talk to it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Vague prompt: 'Write something about marketing'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&gt;&gt;&gt; Generic, unusable result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Effective prompt: 'Write 5 ideas for a social media campaign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for an Italian restaurant in Milan, target audience 25-40,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limited budget, informal and engaging tone'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&gt;&gt;&gt; Specific, actionable, useful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The prompt as an interface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The prompt is your ONLY interface with the AI model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You cannot 'show' what you want — you must DESCRIBE it in words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Think of the prompt as a brief for a colleague: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Who is the audience?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What is the objective?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What format do you want?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What tone should be used?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Are there specific constraints or requirements?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The more context you provide, the better the result.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Anatomy of a good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An effective prompt has up to 6 components: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ROLE — Who the AI should be (e.g., 'You are a marketing expert')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CONTEXT — Relevant background information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TASK — What it should do, in specific terms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FORMAT — How you want the output (list, table, email, etc.)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5. TONE — Formal, informal, technical, accessible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6. CONSTRAINTS — Length, language, things to avoid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You don't always need all six, but the more you use, the better the result.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1E3CFF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Fundamental techniques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The prompt engineer's toolkit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Technique 1: Zero-shot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5A1F"/>
                </a:solidFill>
                <a:latin typeface="Georgia"/>
              </a:defRPr>
            </a:pPr>
            <a:r>
              <a:t>What it is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286000"/>
            <a:ext cx="914400" cy="32004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Giving a direct instruction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WITHOUT providing examples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The model uses only its own knowledge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The simplest and most immediate technique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E3CFF"/>
                </a:solidFill>
                <a:latin typeface="Georgia"/>
              </a:defRPr>
            </a:pPr>
            <a:r>
              <a:t>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286000"/>
            <a:ext cx="914400" cy="32004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Prompt: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'Translate to French: Good morning,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how can I help you?'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When to use it: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For simple, well-defined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Technique 2: Few-shot (with examples)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5A1F"/>
                </a:solidFill>
                <a:latin typeface="Georgia"/>
              </a:defRPr>
            </a:pPr>
            <a:r>
              <a:t>What it is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286000"/>
            <a:ext cx="914400" cy="32004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Providing 2-3 EXAMPLES of input/output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The model learns the pattern from examples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Much more precise than zero-shot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Ideal for tasks with a specific format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E3CFF"/>
                </a:solidFill>
                <a:latin typeface="Georgia"/>
              </a:defRPr>
            </a:pPr>
            <a:r>
              <a:t>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286000"/>
            <a:ext cx="914400" cy="32004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Prompt: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'Classify the sentiment: </a:t>
            </a:r>
          </a:p>
          <a:p>
            <a:pPr>
              <a:spcAft>
                <a:spcPts val="600"/>
              </a:spcAft>
              <a:defRPr sz="1600">
                <a:solidFill>
                  <a:srgbClr val="6B6B72"/>
                </a:solidFill>
                <a:latin typeface="Calibri"/>
              </a:defRPr>
            </a:pPr>
            <a:r>
              <a:t>     Great product! -&gt; Positive</a:t>
            </a:r>
          </a:p>
          <a:p>
            <a:pPr>
              <a:spcAft>
                <a:spcPts val="600"/>
              </a:spcAft>
              <a:defRPr sz="1600">
                <a:solidFill>
                  <a:srgbClr val="6B6B72"/>
                </a:solidFill>
                <a:latin typeface="Calibri"/>
              </a:defRPr>
            </a:pPr>
            <a:r>
              <a:t>     Terrible experience -&gt; Negative</a:t>
            </a:r>
          </a:p>
          <a:p>
            <a:pPr>
              <a:spcAft>
                <a:spcPts val="600"/>
              </a:spcAft>
              <a:defRPr sz="1600">
                <a:solidFill>
                  <a:srgbClr val="6B6B72"/>
                </a:solidFill>
                <a:latin typeface="Calibri"/>
              </a:defRPr>
            </a:pPr>
            <a:r>
              <a:t>     The package arrived -&gt; Neutral</a:t>
            </a:r>
          </a:p>
          <a:p>
            <a:pPr>
              <a:spcAft>
                <a:spcPts val="600"/>
              </a:spcAft>
              <a:defRPr sz="1600">
                <a:solidFill>
                  <a:srgbClr val="6B6B72"/>
                </a:solidFill>
                <a:latin typeface="Calibri"/>
              </a:defRPr>
            </a:pPr>
            <a:r>
              <a:t>     Fantastic customer service -&gt; ?'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Technique 3: Chain-of-Thought (step-by-step reasoning)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5A1F"/>
                </a:solidFill>
                <a:latin typeface="Georgia"/>
              </a:defRPr>
            </a:pPr>
            <a:r>
              <a:t>What it is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286000"/>
            <a:ext cx="914400" cy="32004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Asking the AI to reason STEP BY STEP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Improves quality on complex problems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The model 'shows its work'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Reduces reasoning errors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E3CFF"/>
                </a:solidFill>
                <a:latin typeface="Georgia"/>
              </a:defRPr>
            </a:pPr>
            <a:r>
              <a:t>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286000"/>
            <a:ext cx="914400" cy="32004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Prompt: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'A store sells t-shirts for $25.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20% discount + $5 shipping.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How much does the customer pay?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Reason step by step.'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Technique 4: Role-playing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5A1F"/>
                </a:solidFill>
                <a:latin typeface="Georgia"/>
              </a:defRPr>
            </a:pPr>
            <a:r>
              <a:t>What it is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286000"/>
            <a:ext cx="914400" cy="32004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Assigning a SPECIFIC ROLE to the AI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The model adapts its language and expertise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One of the most powerful and simple tricks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Drastically changes the quality of the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E3CFF"/>
                </a:solidFill>
                <a:latin typeface="Georgia"/>
              </a:defRPr>
            </a:pPr>
            <a:r>
              <a:t>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286000"/>
            <a:ext cx="914400" cy="32004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Prompt: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'You are a sports nutritionist with 20 years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of experience. An amateur athlete asks you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for a meal plan for the week before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a marathon. Respond clearly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and practically.'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Technique 5: Structured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Explicitly request a SPECIFIC FORMAT for the response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Useful formats: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Bulleted or numbered list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Table (with specific columns)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JSON or CSV (for data)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Pre-formatted email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Outline with headings and subheadings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Example: 'Create a table with 3 columns: Tool, Pros, Cons.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Compare ChatGPT, Claude and Gemini for office use.'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Technique 6: Task decomposition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Breaking a COMPLEX task into simpler sub-tasks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INSTEAD OF: 'Write my entire business plan for a restaurant'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BETTER: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1. 'Analyze the restaurant market in Milan'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2. 'Define the target clientele for a Japanese restaurant'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3. 'Estimate startup costs for a 40-seat venue'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4. 'Write the executive summary based on this information'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Each sub-task receives more attention and produces better results.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Technique 7: Constraints and delimitation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Adding EXPLICIT constraints to control the output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Length constraints: 'Respond in 100 words or fewer'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Language constraints: 'Respond in formal English'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Content constraints: 'Do not use technical jargon'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Exclusion constraints: 'Do not mention competitors'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Audience constraints: 'Write for a non-technical audience'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Without constraints, the model decides on its own and is often too long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and generic. Constraints are your steering wheel.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Iteration and refinement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The first prompt is rarely the perfect one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Iterative process: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1. Write the initial prompt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2. Read the response with a critical eye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3. Identify what is missing or what went wrong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4. REFINE the prompt by adding context/constraints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5. Repeat until you get the desired result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It is a CONVERSATION, not a one-off command!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Use phrases like: 'Good, but now make the tone more informal'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or: 'Great, also add a section on risks'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Common prompting mistakes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TOO VAGUE: 'Tell me something about AI'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&gt;&gt;&gt; Add context and a specific objective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TOO LONG: a 500-word prompt with irrelevant information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&gt;&gt;&gt; Be concise yet complete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UNREALISTIC EXPECTATIONS: 'Write my entire book'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&gt;&gt;&gt; Break it down into manageable sub-tasks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NO FORMAT: not specifying how you want the response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&gt;&gt;&gt; Always indicate the desired format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5. NOT ITERATING: accepting the first response without refining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&gt;&gt;&gt; The perfect prompt usually takes 2-3 attempts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B80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Techniques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1737360"/>
          <a:ext cx="10180014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3338"/>
                <a:gridCol w="3393338"/>
                <a:gridCol w="3393338"/>
              </a:tblGrid>
              <a:tr h="43891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Technique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When to use it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Level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Zero-shot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Simple, straightforward tasks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Basic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Few-shot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A specific format/pattern is needed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Basic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Chain-of-thought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Reasoning, calculations,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Intermediate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Role-playing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Domain expertise is needed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Basic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Structured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A precise format is needed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Basic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Decomposition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Complex tasks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Intermediate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Constraints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Controlling length/tone/style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Basic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Iteration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Always! After every response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Basic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2E88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Lab 1: From vague prompts to effective prompts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Hands-on exercise — 30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Exercise 1: Professional email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5A1F"/>
                </a:solidFill>
                <a:latin typeface="Georgia"/>
              </a:defRPr>
            </a:pPr>
            <a:r>
              <a:t>VAGUE prompt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286000"/>
            <a:ext cx="914400" cy="32004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'Write an email to the boss'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Problems: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- No context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- No objective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- No tone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- Which boss? To say what?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E3CFF"/>
                </a:solidFill>
                <a:latin typeface="Georgia"/>
              </a:defRPr>
            </a:pPr>
            <a:r>
              <a:t>EFFECTIVE prompt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286000"/>
            <a:ext cx="914400" cy="32004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'Write a formal email to my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department head to request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3 days off from July 15 to 17.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Mention that project X will be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completed by the 14th. Professional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tone, max 150 words.'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Exercise 2: Document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5A1F"/>
                </a:solidFill>
                <a:latin typeface="Georgia"/>
              </a:defRPr>
            </a:pPr>
            <a:r>
              <a:t>VAGUE prompt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286000"/>
            <a:ext cx="914400" cy="32004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'Summarize this text'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Problems: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- How long should it be?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- Who is the summary for?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- Which aspects to highlight?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- What format to use?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E3CFF"/>
                </a:solidFill>
                <a:latin typeface="Georgia"/>
              </a:defRPr>
            </a:pPr>
            <a:r>
              <a:t>EFFECTIVE prompt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286000"/>
            <a:ext cx="914400" cy="32004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'Summarize the document in 5 key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points, each 1-2 sentences.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The summary is for the sales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director who needs to make a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decision. Highlight costs, timelines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and main risks. Conclude with a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recommendation.'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Exercise 3: Data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5A1F"/>
                </a:solidFill>
                <a:latin typeface="Georgia"/>
              </a:defRPr>
            </a:pPr>
            <a:r>
              <a:t>VAGUE prompt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286000"/>
            <a:ext cx="914400" cy="32004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'Analyze this sales data'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Problems: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- What type of analysis?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- Which metrics matter?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- What comparisons to make?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- How to present the results?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E3CFF"/>
                </a:solidFill>
                <a:latin typeface="Georgia"/>
              </a:defRPr>
            </a:pPr>
            <a:r>
              <a:t>EFFECTIVE prompt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286000"/>
            <a:ext cx="914400" cy="32004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'Analyze the attached sales data.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Identify: (1) the 3 products with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the highest growth, (2) the month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with the most significant decline,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(3) year-over-year trends. Present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results in a table and conclude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with 3 suggested actions.'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Your turn: practice!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Open ChatGPT or Claude and try: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Write a VAGUE prompt for a task of your choice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Observe the response: what is missing? What went wrong?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Rewrite the prompt using the techniques you have learned: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Add a ROLE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Specify the CONTEXT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Define the output FORMAT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Add CONSTRAINTS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Compare the two responses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Time: 10 minutes. Then we share the results!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00C28A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Lab 2: Real-world work scenarios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00C28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8 practical scenarios from the workplace — 45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Scenario 1: Brainstorming for a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Context: You need to propose innovative ideas for the next quarter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Suggested prompt: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'You are a strategic consultant. My company sells business management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software for small and medium-sized enterprises. Revenue has been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stagnant for 2 quarters. Generate 10 creative ideas to increase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sales in Q3, considering a limited budget and a team of 5 people.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For each idea, indicate: action, estimated cost (low/medium/high),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expected impact (1-5), implementation timeline.'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Try it on ChatGPT and Claude: which gives you better ideas?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Scenario 2: Writing a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Context: You need to write a monthly report for management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Suggested prompt: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'Write a 1-page executive report on June results.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Data: sales +12%, new clients 45, churn 3%, NPS 72.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Structure: Summary (3 lines), Key results (table),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Issues (list), Actions for next month (3 points).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Professional tone, numbers highlighted, ready for the CEO.'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Tip: paste real data (non-sensitive) for better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Scenario 3: Translation and localization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Context: You need to translate marketing content for a foreign market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Suggested prompt: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'Translate the following text from English to French.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Do not do a literal translation: adapt the tone to the French market.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Maintain a professional but accessible register.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If there are cultural references, adapt them to the French context.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After the translation, flag any passages where you made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significant adaptation choices and explain why.'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The prompt 'adapt, don't translate' makes all the difference!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Scenario 4: Decision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Context: You need to choose between two vendors / options / strategies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Suggested prompt: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'Help me decide between option A and option B for [decision].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Option A: [description]. Option B: [description].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My criteria: cost, quality, delivery time, scalability.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Create a weighted decision matrix (table) with a score of 1-5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for each criterion. Conclude with a reasoned recommendation.'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AI does not decide for you, but it structures the reasoning!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Scenario 5: Preparing a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Context: You need to create a presentation for an internal meeting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Suggested prompt: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'Create the structure of a 10-slide presentation on [topic].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Audience: non-technical executives. Duration: 15 minutes.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For each slide, indicate: title, 3-4 bullet points with the content,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suggestion for a visual element (chart, icon, image).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The first slide is the title, the last is 'Next Steps'.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Tone: clear, results-oriented, with data where possible.'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Scenario 6: Social media and communication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Context: You need to create content for corporate social media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Suggested prompt: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'You are a social media manager for a company in [industry].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Create 5 LinkedIn posts on the topic of [subject].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Each post should: be 100-150 words, have an engaging opening hook,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include a final call-to-action,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use 3-5 relevant hashtags. Alternate formats: plain text,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bulleted list, open question, storytelling, statistical fact.'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Ask for variations until you find the right tone for your brand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Scenario 7: Customer feedback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Context: You have collected reviews/feedback and need to analyze them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Suggested prompt: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'Analyze the following customer feedback [paste feedback].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For each one, classify: sentiment (positive/negative/neutral),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main topic (product/service/price/support),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urgency (high/medium/low).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Then create a summary with: recurring themes, critical points,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prioritized improvement suggestions, an estimated overall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satisfaction score.'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Perfect for turning qualitative data into actionable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Scenario 8: Automating email responses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Context: You need to reply to repetitive emails (info requests, confirmations...)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Suggested prompt: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'Create 5 email response templates for the most common requests: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Request for information about our services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Appointment confirmation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Payment reminder (polite tone)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Post-meeting thank you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5. Response to a complaint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For each template: subject line, body (max 100 words), professional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yet friendly tone. Include placeholders [NAME], [DATE], [DETAIL].'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B800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Lab 3: Comparing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B80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Same prompt, different responses — 30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Exercise: identical prompt on 3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Choose ONE of the scenarios from Lab 2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Send the SAME prompt to ChatGPT, Claude and HuggingChat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Evaluate each response on these criteria (1-5):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Relevance: does it answer what you asked?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Completeness: does it cover all requested points?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Format: does it follow the requested structure?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Quality: clear language, useful content?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Originality: interesting ideas or generic response?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Fill in the comparison table in the exercise sheet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B80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Comparison template (fill it in yourself!)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1737360"/>
          <a:ext cx="10180012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5003"/>
                <a:gridCol w="2545003"/>
                <a:gridCol w="2545003"/>
                <a:gridCol w="2545003"/>
              </a:tblGrid>
              <a:tr h="43891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Criterion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ChatGPT (1-5)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Claude (1-5)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HuggingChat (1-5)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Relevance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Completeness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Format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Quality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Originality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When to use which tool?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There is no tool that is 'the best overall' — it depends on the task: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ChatGPT excels at: general use, web browsing, image generation,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large plugin ecosystem, huge community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Claude excels at: analyzing long documents, writing quality,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instruction following, structured reasoning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HuggingChat excels at: unlimited free access, experimenting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with different models, privacy (can work without login)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The expert prompt engineer knows how to choose the right tool!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640080"/>
            <a:ext cx="27432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FF3D"/>
                </a:solidFill>
                <a:latin typeface="Consolas"/>
              </a:defRPr>
            </a:pPr>
            <a: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9601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200" b="1" i="1">
                <a:solidFill>
                  <a:srgbClr val="FFFFFF"/>
                </a:solidFill>
                <a:latin typeface="Georgia"/>
              </a:defRPr>
            </a:pPr>
            <a: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6916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180015" cy="41148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A good prompt has: role, context, task, format, tone, constraints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Key techniques: zero-shot, few-shot, chain-of-thought, role-playing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Structured output and constraints are your best allies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Iterating and refining is normal and necessary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Each tool has different strengths — choose based on the task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Consistent practice is the only way to improve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371600"/>
            <a:ext cx="10180015" cy="3657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FF3D"/>
                </a:solidFill>
                <a:latin typeface="Consolas"/>
              </a:defRPr>
            </a:pPr>
            <a:r>
              <a:t>NEXT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180015" cy="2286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Georgia"/>
              </a:defRPr>
            </a:pPr>
            <a:r>
              <a:t>Module 3: ChatGPT</a:t>
            </a:r>
            <a:br/>
            <a:r>
              <a:t>Mastering the most widely used tool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75488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011680"/>
            <a:ext cx="10180015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9600" b="1" i="1">
                <a:solidFill>
                  <a:srgbClr val="FFFFFF"/>
                </a:solidFill>
                <a:latin typeface="Georgia"/>
              </a:defRPr>
            </a:pPr>
            <a:r>
              <a:t>Questions?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657600"/>
            <a:ext cx="210312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023360"/>
            <a:ext cx="10180015" cy="7315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B5B5BC"/>
                </a:solidFill>
                <a:latin typeface="Calibri"/>
              </a:defRPr>
            </a:pPr>
            <a:r>
              <a:t>There are no stupid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630936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