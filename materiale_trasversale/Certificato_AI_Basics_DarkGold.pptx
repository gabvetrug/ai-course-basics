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57432" cy="6309360"/>
          </a:xfrm>
          <a:prstGeom prst="rect">
            <a:avLst/>
          </a:prstGeom>
          <a:solidFill>
            <a:srgbClr val="0F1116"/>
          </a:solidFill>
          <a:ln w="6350">
            <a:solidFill>
              <a:srgbClr val="A08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1183112" cy="6035040"/>
          </a:xfrm>
          <a:prstGeom prst="rect">
            <a:avLst/>
          </a:prstGeom>
          <a:solidFill>
            <a:srgbClr val="0F11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48640"/>
            <a:ext cx="548640" cy="18288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48640"/>
            <a:ext cx="18288" cy="54864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00232" y="548640"/>
            <a:ext cx="548640" cy="18288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30584" y="548640"/>
            <a:ext cx="18288" cy="54864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09360"/>
            <a:ext cx="548640" cy="18288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18288" cy="54864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00232" y="6309360"/>
            <a:ext cx="548640" cy="18288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18520" y="5760720"/>
            <a:ext cx="18288" cy="54864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6040526" y="996695"/>
            <a:ext cx="109728" cy="109728"/>
          </a:xfrm>
          <a:prstGeom prst="diamond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5839358" y="1024127"/>
            <a:ext cx="54864" cy="54864"/>
          </a:xfrm>
          <a:prstGeom prst="diamond">
            <a:avLst/>
          </a:prstGeom>
          <a:solidFill>
            <a:srgbClr val="A0822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6296558" y="1024127"/>
            <a:ext cx="54864" cy="54864"/>
          </a:xfrm>
          <a:prstGeom prst="diamond">
            <a:avLst/>
          </a:prstGeom>
          <a:solidFill>
            <a:srgbClr val="A0822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"/>
            <a:ext cx="1033272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D4AF37"/>
                </a:solidFill>
                <a:latin typeface="Consolas"/>
              </a:defRPr>
            </a:pPr>
            <a:r>
              <a:t>CERTIFICATO DI COMPLETAMENTO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280160"/>
            <a:ext cx="1033272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B8B0A0"/>
                </a:solidFill>
                <a:latin typeface="Calibri"/>
              </a:defRPr>
            </a:pPr>
            <a:r>
              <a:t>Si attesta 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5600" b="1" i="1">
                <a:solidFill>
                  <a:srgbClr val="E8CF7A"/>
                </a:solidFill>
                <a:latin typeface="Georgia"/>
              </a:defRPr>
            </a:pPr>
            <a:r>
              <a:t>[NOME E COGNOME]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468880"/>
            <a:ext cx="5760720" cy="2286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049670" y="2432304"/>
            <a:ext cx="91440" cy="91440"/>
          </a:xfrm>
          <a:prstGeom prst="diamond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651760"/>
            <a:ext cx="1033272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B8B0A0"/>
                </a:solidFill>
                <a:latin typeface="Calibri"/>
              </a:defRPr>
            </a:pPr>
            <a:r>
              <a:t>ha completato con successo il corso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5F0E8"/>
                </a:solidFill>
                <a:latin typeface="Georgia"/>
              </a:defRPr>
            </a:pPr>
            <a:r>
              <a:t>AI Basics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B8B0A0"/>
                </a:solidFill>
                <a:latin typeface="Georgia"/>
              </a:defRPr>
            </a:pPr>
            <a:r>
              <a:t>Strumenti di Intelligenza Artificiale per Tutti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77639"/>
            <a:ext cx="1033272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787268"/>
                </a:solidFill>
                <a:latin typeface="Consolas"/>
              </a:defRPr>
            </a:pPr>
            <a:r>
              <a:t>20 ore  ·  8 moduli  ·  Teoria + Pratica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4389120"/>
            <a:ext cx="6675120" cy="13716"/>
          </a:xfrm>
          <a:prstGeom prst="rect">
            <a:avLst/>
          </a:prstGeom>
          <a:solidFill>
            <a:srgbClr val="A0822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80560"/>
            <a:ext cx="1033272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D4AF37"/>
                </a:solidFill>
                <a:latin typeface="Consolas"/>
              </a:defRPr>
            </a:pPr>
            <a:r>
              <a:t>COMPETENZE CERTIFICATE</a:t>
            </a:r>
          </a:p>
        </p:txBody>
      </p:sp>
      <p:sp>
        <p:nvSpPr>
          <p:cNvPr id="26" name="Diamond 25"/>
          <p:cNvSpPr/>
          <p:nvPr/>
        </p:nvSpPr>
        <p:spPr>
          <a:xfrm>
            <a:off x="3447288" y="4818888"/>
            <a:ext cx="54864" cy="54864"/>
          </a:xfrm>
          <a:prstGeom prst="diamond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4754880"/>
            <a:ext cx="594360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8B0A0"/>
                </a:solidFill>
                <a:latin typeface="Calibri"/>
              </a:defRPr>
            </a:pPr>
            <a:r>
              <a:t>Uso professionale di ChatGPT, Claude e modelli open source</a:t>
            </a:r>
          </a:p>
        </p:txBody>
      </p:sp>
      <p:sp>
        <p:nvSpPr>
          <p:cNvPr id="28" name="Diamond 27"/>
          <p:cNvSpPr/>
          <p:nvPr/>
        </p:nvSpPr>
        <p:spPr>
          <a:xfrm>
            <a:off x="3447288" y="5074920"/>
            <a:ext cx="54864" cy="54864"/>
          </a:xfrm>
          <a:prstGeom prst="diamond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5010912"/>
            <a:ext cx="594360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8B0A0"/>
                </a:solidFill>
                <a:latin typeface="Calibri"/>
              </a:defRPr>
            </a:pPr>
            <a:r>
              <a:t>Prompt engineering con tecniche strutturate</a:t>
            </a:r>
          </a:p>
        </p:txBody>
      </p:sp>
      <p:sp>
        <p:nvSpPr>
          <p:cNvPr id="30" name="Diamond 29"/>
          <p:cNvSpPr/>
          <p:nvPr/>
        </p:nvSpPr>
        <p:spPr>
          <a:xfrm>
            <a:off x="3447288" y="5330951"/>
            <a:ext cx="54864" cy="54864"/>
          </a:xfrm>
          <a:prstGeom prst="diamond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5266944"/>
            <a:ext cx="594360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8B0A0"/>
                </a:solidFill>
                <a:latin typeface="Calibri"/>
              </a:defRPr>
            </a:pPr>
            <a:r>
              <a:t>Integrazione dell'AI nei workflow lavorativi</a:t>
            </a:r>
          </a:p>
        </p:txBody>
      </p:sp>
      <p:sp>
        <p:nvSpPr>
          <p:cNvPr id="32" name="Diamond 31"/>
          <p:cNvSpPr/>
          <p:nvPr/>
        </p:nvSpPr>
        <p:spPr>
          <a:xfrm>
            <a:off x="3447288" y="5586983"/>
            <a:ext cx="54864" cy="54864"/>
          </a:xfrm>
          <a:prstGeom prst="diamond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5522976"/>
            <a:ext cx="594360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8B0A0"/>
                </a:solidFill>
                <a:latin typeface="Calibri"/>
              </a:defRPr>
            </a:pPr>
            <a:r>
              <a:t>Uso responsabile e consapevole dell'AI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5852160"/>
            <a:ext cx="6675120" cy="13716"/>
          </a:xfrm>
          <a:prstGeom prst="rect">
            <a:avLst/>
          </a:prstGeom>
          <a:solidFill>
            <a:srgbClr val="A0822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989320"/>
            <a:ext cx="3200400" cy="16459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D4AF37"/>
                </a:solidFill>
                <a:latin typeface="Consolas"/>
              </a:defRPr>
            </a:pPr>
            <a:r>
              <a:t>VALUTAZIONE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6144768"/>
            <a:ext cx="320040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8B0A0"/>
                </a:solidFill>
                <a:latin typeface="Consolas"/>
              </a:defRPr>
            </a:pPr>
            <a:r>
              <a:t>Progetto: ___ / 25     Quiz: ___ / 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989320"/>
            <a:ext cx="2743200" cy="16459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D4AF37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6144768"/>
            <a:ext cx="274320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B8B0A0"/>
                </a:solidFill>
                <a:latin typeface="Calibri"/>
              </a:defRPr>
            </a:pPr>
            <a:r>
              <a:t>____________________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989320"/>
            <a:ext cx="3566160" cy="16459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D4AF37"/>
                </a:solidFill>
                <a:latin typeface="Consolas"/>
              </a:defRPr>
            </a:pPr>
            <a:r>
              <a:t>Firma del Formatore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6144768"/>
            <a:ext cx="356616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B8B0A0"/>
                </a:solidFill>
                <a:latin typeface="Calibri"/>
              </a:defRPr>
            </a:pPr>
            <a:r>
              <a:t>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