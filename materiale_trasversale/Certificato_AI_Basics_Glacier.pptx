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EB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54864" cy="6858000"/>
          </a:xfrm>
          <a:prstGeom prst="rect">
            <a:avLst/>
          </a:prstGeom>
          <a:solidFill>
            <a:srgbClr val="38B2EB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0DB49B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11430000" cy="10972"/>
          </a:xfrm>
          <a:prstGeom prst="rect">
            <a:avLst/>
          </a:prstGeom>
          <a:solidFill>
            <a:srgbClr val="CBDFF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11430000" cy="10972"/>
          </a:xfrm>
          <a:prstGeom prst="rect">
            <a:avLst/>
          </a:prstGeom>
          <a:solidFill>
            <a:srgbClr val="CBDFF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27080" y="594360"/>
            <a:ext cx="457200" cy="457200"/>
          </a:xfrm>
          <a:prstGeom prst="ellipse">
            <a:avLst/>
          </a:prstGeom>
          <a:solidFill>
            <a:srgbClr val="E8EEF5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69980" y="480060"/>
            <a:ext cx="228600" cy="228600"/>
          </a:xfrm>
          <a:prstGeom prst="ellipse">
            <a:avLst/>
          </a:prstGeom>
          <a:solidFill>
            <a:srgbClr val="CBDFF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21340" y="434340"/>
            <a:ext cx="137160" cy="137160"/>
          </a:xfrm>
          <a:prstGeom prst="ellipse">
            <a:avLst/>
          </a:prstGeom>
          <a:solidFill>
            <a:srgbClr val="CBDFF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11087100" y="5783580"/>
            <a:ext cx="320040" cy="320040"/>
          </a:xfrm>
          <a:prstGeom prst="hexagon">
            <a:avLst/>
          </a:prstGeom>
          <a:solidFill>
            <a:srgbClr val="E8EEF5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10789920" y="6035040"/>
            <a:ext cx="182880" cy="182880"/>
          </a:xfrm>
          <a:prstGeom prst="hexagon">
            <a:avLst/>
          </a:prstGeom>
          <a:solidFill>
            <a:srgbClr val="CBDFF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"/>
            <a:ext cx="105156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A6EBD"/>
                </a:solidFill>
                <a:latin typeface="Consolas"/>
              </a:defRPr>
            </a:pPr>
            <a:r>
              <a:t>AI BASICS  ·  CERTIFICATO DI COMPLETAMENTO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8B92A8"/>
                </a:solidFill>
                <a:latin typeface="Calibri"/>
              </a:defRPr>
            </a:pPr>
            <a:r>
              <a:t>Si attesta 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600200"/>
            <a:ext cx="105156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5600" b="1" i="1">
                <a:solidFill>
                  <a:srgbClr val="0A6EBD"/>
                </a:solidFill>
                <a:latin typeface="Georgia"/>
              </a:defRPr>
            </a:pPr>
            <a:r>
              <a:t>[NOME E COGNOME]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468880"/>
            <a:ext cx="4846320" cy="32004"/>
          </a:xfrm>
          <a:prstGeom prst="rect">
            <a:avLst/>
          </a:prstGeom>
          <a:solidFill>
            <a:srgbClr val="0DB49B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34156" y="2455164"/>
            <a:ext cx="64008" cy="64008"/>
          </a:xfrm>
          <a:prstGeom prst="ellipse">
            <a:avLst/>
          </a:prstGeom>
          <a:solidFill>
            <a:srgbClr val="38B2EB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63356" y="2455164"/>
            <a:ext cx="64008" cy="64008"/>
          </a:xfrm>
          <a:prstGeom prst="ellipse">
            <a:avLst/>
          </a:prstGeom>
          <a:solidFill>
            <a:srgbClr val="38B2EB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651760"/>
            <a:ext cx="105156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8B92A8"/>
                </a:solidFill>
                <a:latin typeface="Calibri"/>
              </a:defRPr>
            </a:pPr>
            <a:r>
              <a:t>ha completato con successo il corso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1A1F36"/>
                </a:solidFill>
                <a:latin typeface="Georgia"/>
              </a:defRPr>
            </a:pPr>
            <a:r>
              <a:t>AI Basics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3B425A"/>
                </a:solidFill>
                <a:latin typeface="Georgia"/>
              </a:defRPr>
            </a:pPr>
            <a:r>
              <a:t>Strumenti di Intelligenza Artificiale per Tutti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81247" y="4023360"/>
            <a:ext cx="5029200" cy="320040"/>
          </a:xfrm>
          <a:prstGeom prst="roundRect">
            <a:avLst/>
          </a:prstGeom>
          <a:solidFill>
            <a:srgbClr val="E8EEF5"/>
          </a:solidFill>
          <a:ln w="9525">
            <a:solidFill>
              <a:srgbClr val="CB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81247" y="4041648"/>
            <a:ext cx="50292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B92A8"/>
                </a:solidFill>
                <a:latin typeface="Consolas"/>
              </a:defRPr>
            </a:pPr>
            <a:r>
              <a:t>20 ore  ·  8 moduli  ·  Teoria + Pratica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572000"/>
            <a:ext cx="94183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0" y="4681728"/>
            <a:ext cx="8686800" cy="201168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A6EBD"/>
                </a:solidFill>
                <a:latin typeface="Consolas"/>
              </a:defRPr>
            </a:pPr>
            <a:r>
              <a:t>COMPETENZE CERTIFICATE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4919472"/>
            <a:ext cx="914400" cy="22860"/>
          </a:xfrm>
          <a:prstGeom prst="rect">
            <a:avLst/>
          </a:prstGeom>
          <a:solidFill>
            <a:srgbClr val="0DB49B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741932" y="5097780"/>
            <a:ext cx="82296" cy="82296"/>
          </a:xfrm>
          <a:prstGeom prst="ellipse">
            <a:avLst/>
          </a:prstGeom>
          <a:solidFill>
            <a:srgbClr val="0A6EB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01952" y="5029200"/>
            <a:ext cx="41148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B425A"/>
                </a:solidFill>
                <a:latin typeface="Calibri"/>
              </a:defRPr>
            </a:pPr>
            <a:r>
              <a:t>Uso professionale di ChatGPT, Claude e modelli open source</a:t>
            </a:r>
          </a:p>
        </p:txBody>
      </p:sp>
      <p:sp>
        <p:nvSpPr>
          <p:cNvPr id="28" name="Oval 27"/>
          <p:cNvSpPr/>
          <p:nvPr/>
        </p:nvSpPr>
        <p:spPr>
          <a:xfrm>
            <a:off x="6313932" y="5097780"/>
            <a:ext cx="82296" cy="82296"/>
          </a:xfrm>
          <a:prstGeom prst="ellipse">
            <a:avLst/>
          </a:prstGeom>
          <a:solidFill>
            <a:srgbClr val="38B2EB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5029200"/>
            <a:ext cx="41148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B425A"/>
                </a:solidFill>
                <a:latin typeface="Calibri"/>
              </a:defRPr>
            </a:pPr>
            <a:r>
              <a:t>Prompt engineering con tecniche strutturate</a:t>
            </a:r>
          </a:p>
        </p:txBody>
      </p:sp>
      <p:sp>
        <p:nvSpPr>
          <p:cNvPr id="30" name="Oval 29"/>
          <p:cNvSpPr/>
          <p:nvPr/>
        </p:nvSpPr>
        <p:spPr>
          <a:xfrm>
            <a:off x="1741932" y="5509260"/>
            <a:ext cx="82296" cy="82296"/>
          </a:xfrm>
          <a:prstGeom prst="ellipse">
            <a:avLst/>
          </a:prstGeom>
          <a:solidFill>
            <a:srgbClr val="0DB49B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01952" y="5440680"/>
            <a:ext cx="41148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B425A"/>
                </a:solidFill>
                <a:latin typeface="Calibri"/>
              </a:defRPr>
            </a:pPr>
            <a:r>
              <a:t>Integrazione dell'AI nei workflow lavorativi</a:t>
            </a:r>
          </a:p>
        </p:txBody>
      </p:sp>
      <p:sp>
        <p:nvSpPr>
          <p:cNvPr id="32" name="Oval 31"/>
          <p:cNvSpPr/>
          <p:nvPr/>
        </p:nvSpPr>
        <p:spPr>
          <a:xfrm>
            <a:off x="6313932" y="5509260"/>
            <a:ext cx="82296" cy="82296"/>
          </a:xfrm>
          <a:prstGeom prst="ellipse">
            <a:avLst/>
          </a:prstGeom>
          <a:solidFill>
            <a:srgbClr val="0A6EB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5440680"/>
            <a:ext cx="41148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B425A"/>
                </a:solidFill>
                <a:latin typeface="Calibri"/>
              </a:defRPr>
            </a:pPr>
            <a:r>
              <a:t>Uso responsabile e consapevole dell'AI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035040"/>
            <a:ext cx="3200400" cy="1371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A6EBD"/>
                </a:solidFill>
                <a:latin typeface="Consolas"/>
              </a:defRPr>
            </a:pPr>
            <a:r>
              <a:t>VALUTAZIONE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172200"/>
            <a:ext cx="3200400" cy="1828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B425A"/>
                </a:solidFill>
                <a:latin typeface="Consolas"/>
              </a:defRPr>
            </a:pPr>
            <a:r>
              <a:t>Progetto: ___ / 25     Quiz: ___ / 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6035040"/>
            <a:ext cx="2743200" cy="1371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A6EBD"/>
                </a:solidFill>
                <a:latin typeface="Consolas"/>
              </a:defRPr>
            </a:pPr>
            <a:r>
              <a:t>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6172200"/>
            <a:ext cx="2743200" cy="1828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3B425A"/>
                </a:solidFill>
                <a:latin typeface="Calibri"/>
              </a:defRPr>
            </a:pPr>
            <a:r>
              <a:t>____________________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6035040"/>
            <a:ext cx="3566160" cy="1371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A6EBD"/>
                </a:solidFill>
                <a:latin typeface="Consolas"/>
              </a:defRPr>
            </a:pPr>
            <a:r>
              <a:t>Firma del Formatore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6172200"/>
            <a:ext cx="3566160" cy="1828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3B425A"/>
                </a:solidFill>
                <a:latin typeface="Calibri"/>
              </a:defRPr>
            </a:pPr>
            <a:r>
              <a:t>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