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APERTURA MODULO 1</a:t>
            </a:r>
          </a:p>
          <a:p/>
          <a:p>
            <a:r>
              <a:t>· Presenta il modulo e gli obiettivi</a:t>
            </a:r>
          </a:p>
          <a:p>
            <a:r>
              <a:t>· Verifica che tutti abbiano accesso agli strumenti</a:t>
            </a:r>
          </a:p>
          <a:p>
            <a:r>
              <a:t>· Anticipa la struttura: prima la teoria, poi la pratica</a:t>
            </a:r>
          </a:p>
          <a:p>
            <a:r>
              <a:t>· Tempo suggerito: 2-3 minuti</a:t>
            </a:r>
          </a:p>
          <a:p/>
          <a:p>
            <a:r>
              <a:t>Domanda di apertura: 'Qualcuno di voi ha gia usato strumenti AI questa settimana?'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</a:t>
            </a:r>
          </a:p>
          <a:p/>
          <a:p>
            <a:r>
              <a:t>· Scorri brevemente ogni punto dell'agenda</a:t>
            </a:r>
          </a:p>
          <a:p>
            <a:r>
              <a:t>· Indica i momenti pratici (lab) e le pause</a:t>
            </a:r>
          </a:p>
          <a:p>
            <a:r>
              <a:t>· Chiedi se ci sono aspettative particolari</a:t>
            </a:r>
          </a:p>
          <a:p>
            <a:r>
              <a:t>· Tempo suggerito: 2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Cos'e l'Intelligenza Artificiale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CONCETTO CHIAVE</a:t>
            </a:r>
          </a:p>
          <a:p/>
          <a:p>
            <a:r>
              <a:t>&gt;&gt;&gt; PAUSA QUI — Lascia il tempo di leggere &lt;&lt;&lt;</a:t>
            </a:r>
          </a:p>
          <a:p/>
          <a:p>
            <a:r>
              <a:t>· Questa slide contiene un concetto fondamentale</a:t>
            </a:r>
          </a:p>
          <a:p>
            <a:r>
              <a:t>· Leggi il testo ad alta voce, poi parafrasa</a:t>
            </a:r>
          </a:p>
          <a:p>
            <a:r>
              <a:t>· Chiedi: 'Qualcuno puo riformularlo con parole sue?'</a:t>
            </a:r>
          </a:p>
          <a:p>
            <a:r>
              <a:t>· Assicurati che tutti abbiano compreso prima di proseguire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1950 — Alan Turing propone il 'Test di Turing'; 1956 — Nasce ufficialmente il campo dell'AI (conferenza di Dartmouth); 1960-80 — Primi sistemi esperti, poi il primo 'inverno dell'AI'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Assistenti vocali (Siri, Alexa, Google Assistant); Suggerimenti di Netflix, Spotify, YouTube; Filtri anti-spam nella posta elettronica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CONFRONTO: Corso AI Basics</a:t>
            </a:r>
          </a:p>
          <a:p/>
          <a:p>
            <a:r>
              <a:t>· Presenta prima il lato sinistro, poi il destro</a:t>
            </a:r>
          </a:p>
          <a:p>
            <a:r>
              <a:t>· Evidenzia le differenze chiave</a:t>
            </a:r>
          </a:p>
          <a:p>
            <a:r>
              <a:t>· Chiedi ai partecipanti quale preferiscono e perche</a:t>
            </a:r>
          </a:p>
          <a:p>
            <a:r>
              <a:t>· Non schierarti: il messaggio e 'dipende dal contesto'</a:t>
            </a:r>
          </a:p>
          <a:p>
            <a:r>
              <a:t>· Tempo suggerito: 3-4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Machine Learning, Deep Learning e LLM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INTELLIGENZA ARTIFICIALE (il campo piu ampio); Ogni livello e un sottoinsieme del precedente.; Noi ci concentreremo sugli LLM, che sono lo strato piu recente.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CONCETTO CHIAVE</a:t>
            </a:r>
          </a:p>
          <a:p/>
          <a:p>
            <a:r>
              <a:t>&gt;&gt;&gt; PAUSA QUI — Lascia il tempo di leggere &lt;&lt;&lt;</a:t>
            </a:r>
          </a:p>
          <a:p/>
          <a:p>
            <a:r>
              <a:t>· Questa slide contiene un concetto fondamentale</a:t>
            </a:r>
          </a:p>
          <a:p>
            <a:r>
              <a:t>· Leggi il testo ad alta voce, poi parafrasa</a:t>
            </a:r>
          </a:p>
          <a:p>
            <a:r>
              <a:t>· Chiedi: 'Qualcuno puo riformularlo con parole sue?'</a:t>
            </a:r>
          </a:p>
          <a:p>
            <a:r>
              <a:t>· Assicurati che tutti abbiano compreso prima di proseguire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Ispirato (vagamente) al funzionamento del cervello umano; Reti di 'neuroni artificiali' organizzati in strati (layers); Piu strati = piu profondo = 'Deep' Learning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Modelli di linguaggio 'grandi' — addestrati su enormi quantita di testo; Comprendono e generano linguaggio naturale; Esempi: GPT-4 (OpenAI), Claude (Anthropic), Llama (Meta), Gemini (Google)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TABELLA: Corso AI Basics</a:t>
            </a:r>
          </a:p>
          <a:p/>
          <a:p>
            <a:r>
              <a:t>· Non leggere tutta la tabella — evidenzia 2-3 righe chiave</a:t>
            </a:r>
          </a:p>
          <a:p>
            <a:r>
              <a:t>· Chiedi ai partecipanti di trovare il dato piu sorprendente</a:t>
            </a:r>
          </a:p>
          <a:p>
            <a:r>
              <a:t>· Lascia la tabella visibile qualche secondo per la lettura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Come funziona un LLM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CONCETTO CHIAVE</a:t>
            </a:r>
          </a:p>
          <a:p/>
          <a:p>
            <a:r>
              <a:t>&gt;&gt;&gt; PAUSA QUI — Lascia il tempo di leggere &lt;&lt;&lt;</a:t>
            </a:r>
          </a:p>
          <a:p/>
          <a:p>
            <a:r>
              <a:t>· Questa slide contiene un concetto fondamentale</a:t>
            </a:r>
          </a:p>
          <a:p>
            <a:r>
              <a:t>· Leggi il testo ad alta voce, poi parafrasa</a:t>
            </a:r>
          </a:p>
          <a:p>
            <a:r>
              <a:t>· Chiedi: 'Qualcuno puo riformularlo con parole sue?'</a:t>
            </a:r>
          </a:p>
          <a:p>
            <a:r>
              <a:t>· Assicurati che tutti abbiano compreso prima di proseguire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Libri, articoli scientifici, pagine web, Wikipedia, forum, codice sorgente...; Centinaia di miliardi di parole in decine di lingue; Il modello NON memorizza i testi — impara i PATTERN del linguaggio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Il modello non legge 'parole' ma 'token'; Un token e circa 3/4 di una parola (in inglese); Esempio: 'Intelligenza Artificiale' = 4-5 token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Quantita massima di testo che il modello 'vede' in una conversazione; Include: le tue domande + le risposte del modello + istruzioni di sistema; Quando il contesto si riempie, il modello 'dimentica' i messaggi piu vecchi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La 'temperatura' controlla quanto il modello e creativo vs prevedibile; Temperatura BASSA (0.0 - 0.3):; Temperatura ALTA (0.7 - 1.0):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NON accede a Internet in tempo reale (salvo plugin specifici); NON ha memoria tra conversazioni diverse (salvo funzioni dedicate); NON 'ragiona' come un umano — simula il ragionamento tramite pattern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LLM come AUTOCOMPLETAMENTO avanzato del telefono; LLM come STAGISTA brillante ma inesperto; LLM come PAPPAGALLO colto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Panoramica degli strumenti disponibili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Il mercato degli strumenti AI conversazionali e in rapida evoluzione; Tre categorie principali:; 1. COMMERCIALI CHIUSI: ChatGPT (OpenAI), Claude (Anthropic), Gemini (Google)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Il piu conosciuto e diffuso al mondo; Modello principale: GPT-4o (omni) — testo, immagini, audio, video; Piano Free: GPT-4o mini, uso limitato di GPT-4o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Creato da Anthropic, focalizzato su sicurezza e affidabilita; Modelli: Opus (potente), Sonnet (bilanciato), Haiku (veloce); Piano Free: Claude Sonnet, uso limitato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CONFRONTO: Corso AI Basics</a:t>
            </a:r>
          </a:p>
          <a:p/>
          <a:p>
            <a:r>
              <a:t>· Presenta prima il lato sinistro, poi il destro</a:t>
            </a:r>
          </a:p>
          <a:p>
            <a:r>
              <a:t>· Evidenzia le differenze chiave</a:t>
            </a:r>
          </a:p>
          <a:p>
            <a:r>
              <a:t>· Chiedi ai partecipanti quale preferiscono e perche</a:t>
            </a:r>
          </a:p>
          <a:p>
            <a:r>
              <a:t>· Non schierarti: il messaggio e 'dipende dal contesto'</a:t>
            </a:r>
          </a:p>
          <a:p>
            <a:r>
              <a:t>· Tempo suggerito: 3-4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Modelli il cui codice/pesi sono pubblicamente disponibili; Llama 3.1 (Meta): uno dei piu potenti modelli open; Mistral / Mixtral: azienda francese, ottima qualita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TABELLA: Corso AI Basics</a:t>
            </a:r>
          </a:p>
          <a:p/>
          <a:p>
            <a:r>
              <a:t>· Non leggere tutta la tabella — evidenzia 2-3 righe chiave</a:t>
            </a:r>
          </a:p>
          <a:p>
            <a:r>
              <a:t>· Chiedi ai partecipanti di trovare il dato piu sorprendente</a:t>
            </a:r>
          </a:p>
          <a:p>
            <a:r>
              <a:t>· Lascia la tabella visibile qualche secondo per la lettura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Laboratorio pratico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1. ChatGPT: vai su chat.openai.com e registrati (gratis); 2. Claude: vai su claude.ai e registrati (gratis); 3. HuggingChat: vai su huggingface.co/chat (gratis, opzionale login)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Poni la STESSA domanda a ChatGPT, Claude e HuggingChat:; Domanda suggerita:; Per ogni risposta, annota: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Dopo aver ricevuto le tre risposte, rifletti:; 1. Le risposte sono simili o molto diverse?; 2. Quale strumento ha centrato meglio il tono (bambino di 10 anni)?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Condividi le tue osservazioni con il gruppo:; - Quale strumento hai preferito e perche?; - Hai trovato differenze sorprendenti?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RIEPILOGO MODULO</a:t>
            </a:r>
          </a:p>
          <a:p/>
          <a:p>
            <a:r>
              <a:t>· Scorri ogni punto rapidamente — NON rispiegare tutto</a:t>
            </a:r>
          </a:p>
          <a:p>
            <a:r>
              <a:t>· Chiedi: 'Qual e il concetto che vi ha colpito di piu?'</a:t>
            </a:r>
          </a:p>
          <a:p>
            <a:r>
              <a:t>· Chiedi: 'C'e qualcosa che non e chiaro?'</a:t>
            </a:r>
          </a:p>
          <a:p>
            <a:r>
              <a:t>· Se ci sono dubbi, chiarisci ora prima di proseguire</a:t>
            </a:r>
          </a:p>
          <a:p>
            <a:r>
              <a:t>· Tempo suggerito: 3-4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ANTEPRIMA PROSSIMO MODULO</a:t>
            </a:r>
          </a:p>
          <a:p/>
          <a:p>
            <a:r>
              <a:t>· Presenta brevemente cosa si vedra dopo</a:t>
            </a:r>
          </a:p>
          <a:p>
            <a:r>
              <a:t>· Crea curiosita senza anticipare troppo</a:t>
            </a:r>
          </a:p>
          <a:p>
            <a:r>
              <a:t>· Annuncia la pausa se prevista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SESSIONE DOMANDE</a:t>
            </a:r>
          </a:p>
          <a:p/>
          <a:p>
            <a:r>
              <a:t>· Apri il microfono: 'Ci sono domande?'</a:t>
            </a:r>
          </a:p>
          <a:p>
            <a:r>
              <a:t>· Se nessuno chiede, proponi una domanda stimolo:</a:t>
            </a:r>
          </a:p>
          <a:p>
            <a:r>
              <a:t>  'Quale strumento pensate di usare per primo nel vostro lavoro?'</a:t>
            </a:r>
          </a:p>
          <a:p>
            <a:r>
              <a:t>· Gestisci il tempo: max 5 minuti</a:t>
            </a:r>
          </a:p>
          <a:p>
            <a:r>
              <a:t>· Se le domande sono troppe, offri di rispondere durante la pausa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 ·  Corso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457200"/>
            <a:ext cx="46936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005840"/>
            <a:ext cx="1280160" cy="274320"/>
          </a:xfrm>
          <a:prstGeom prst="round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B0B0C"/>
                </a:solidFill>
                <a:latin typeface="Consolas"/>
              </a:defRPr>
            </a:pPr>
            <a:r>
              <a:t>ChatGPT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1005840"/>
            <a:ext cx="1280160" cy="274320"/>
          </a:xfrm>
          <a:prstGeom prst="round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Claude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005840"/>
            <a:ext cx="1280160" cy="274320"/>
          </a:xfrm>
          <a:prstGeom prst="round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Open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005840"/>
            <a:ext cx="1280160" cy="274320"/>
          </a:xfrm>
          <a:prstGeom prst="roundRect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Prompt Eng.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645920"/>
            <a:ext cx="10180015" cy="16459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1" i="0">
                <a:solidFill>
                  <a:srgbClr val="0B0B0C"/>
                </a:solidFill>
                <a:latin typeface="Georgia"/>
              </a:defRPr>
            </a:pPr>
            <a:r>
              <a:t>Modulo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3383280"/>
            <a:ext cx="2286000" cy="54864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5760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1">
                <a:solidFill>
                  <a:srgbClr val="2A2A2D"/>
                </a:solidFill>
                <a:latin typeface="Georgia"/>
              </a:defRPr>
            </a:pPr>
            <a:r>
              <a:t>Cos'e l'Intelligenza Artificiale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30936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  |  Durata: 2 ore  |  Teoria + Laboratorio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Agenda  ·  06 punti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4572000" cy="822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7200" b="1" i="0">
                <a:solidFill>
                  <a:srgbClr val="0B0B0C"/>
                </a:solidFill>
                <a:latin typeface="Georgia"/>
              </a:defRPr>
            </a:pPr>
            <a:r>
              <a:t>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822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7200" b="0" i="1">
                <a:solidFill>
                  <a:srgbClr val="FF5A1F"/>
                </a:solidFill>
                <a:latin typeface="Georgia"/>
              </a:defRPr>
            </a:pPr>
            <a:r>
              <a:t>programma.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14600"/>
            <a:ext cx="4114800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Cosa vedremo in questo modulo.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0058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0972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0972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Cos'e l'Intelligenza Artificiale: definizione e storia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6916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7830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7830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Machine Learning, Deep Learning e LLM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23774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24688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4688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Come funziona un modello linguistico (LLM)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30632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31546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1546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Panoramica degli strumenti disponibili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3749039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38404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8404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Laboratorio: prima interazione con ChatGPT, Claude e HuggingChat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44348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45262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5262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Riepilogo e domande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5A1F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Cos'e l'Intelligenza Artificiale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Definizione, storia e presenza nella vita quotidiana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Concetto chiave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B6B72"/>
                </a:solidFill>
                <a:latin typeface="Consolas"/>
              </a:defRPr>
            </a:pPr>
            <a:r>
              <a:t>DEFINIZIONE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80015" cy="27432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0">
                <a:solidFill>
                  <a:srgbClr val="0B0B0C"/>
                </a:solidFill>
                <a:latin typeface="Georgia"/>
              </a:defRPr>
            </a:pPr>
            <a:r>
              <a:t>L'Intelligenza Artificiale e la capacita di un sistema</a:t>
            </a:r>
            <a:br/>
            <a:r>
              <a:t>informatico di svolgere compiti che normalmente</a:t>
            </a:r>
            <a:br/>
            <a:r>
              <a:t>richiedono intelligenza umana.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6634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9204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Comprendere il linguaggio, riconoscere immagini, prendere decisioni, generare contenuti.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Breve storia dell'AI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1950 — Alan Turing propone il 'Test di Turing'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1956 — Nasce ufficialmente il campo dell'AI (conferenza di Dartmouth)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1960-80 — Primi sistemi esperti, poi il primo 'inverno dell'AI'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1997 — Deep Blue (IBM) batte Kasparov a scacchi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2012 — Rivoluzione Deep Learning: le reti neurali profonde decollano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2017 — Google pubblica 'Attention Is All You Need' (architettura Transformer)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2022 — ChatGPT apre l'AI generativa al grande pubblico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2023-oggi — Esplosione di strumenti AI accessibili a tutti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L'AI nella tua vita quotidiana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Assistenti vocali (Siri, Alexa, Google Assistant)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Suggerimenti di Netflix, Spotify, YouTube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Filtri anti-spam nella posta elettronica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Navigatore GPS con traffico in tempo reale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Traduttore automatico (Google Translate, DeepL)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Riconoscimento facciale per sbloccare il telefono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Correzione automatica e suggerimenti di testo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Usi gia l'AI ogni giorno, senza saperlo!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AI debole vs AI forte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5A1F"/>
                </a:solidFill>
                <a:latin typeface="Georgia"/>
              </a:defRPr>
            </a:pPr>
            <a:r>
              <a:t>AI Debole (Narrow AI)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286000"/>
            <a:ext cx="914400" cy="32004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Specializzata in un singolo compito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Quella che usiamo oggi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ChatGPT, riconoscimento immagini, etc.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Non 'capisce' realmente, elabora pattern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Molto potente nel suo ambito specifico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E3CFF"/>
                </a:solidFill>
                <a:latin typeface="Georgia"/>
              </a:defRPr>
            </a:pPr>
            <a:r>
              <a:t>AI Forte (General AI)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286000"/>
            <a:ext cx="914400" cy="32004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Capace di qualsiasi compito intellettuale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Non esiste ancora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Obiettivo della ricerca a lungo termine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Richiederebbe comprensione reale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Spesso confusa con l'AI nei film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1E3CFF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Machine Learning, Deep Learning e LLM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I tre livelli dell'AI moderna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I tre livelli: una struttura a matrioska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INTELLIGENZA ARTIFICIALE (il campo piu ampio)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contiene: MACHINE LEARNING (apprendimento dai dati)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contiene: DEEP LEARNING (reti neurali profonde)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contiene: LLM (modelli linguistici di grandi dimensioni)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Ogni livello e un sottoinsieme del precedente.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Noi ci concentreremo sugli LLM, che sono lo strato piu recente.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Concetto chiave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B6B72"/>
                </a:solidFill>
                <a:latin typeface="Consolas"/>
              </a:defRPr>
            </a:pPr>
            <a:r>
              <a:t>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80015" cy="27432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0">
                <a:solidFill>
                  <a:srgbClr val="0B0B0C"/>
                </a:solidFill>
                <a:latin typeface="Georgia"/>
              </a:defRPr>
            </a:pPr>
            <a:r>
              <a:t>Un sistema che impara dai dati</a:t>
            </a:r>
            <a:br/>
            <a:r>
              <a:t>invece di essere programmato esplicitamente.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6634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9204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Analogia: non scrivi le regole, mostri migliaia di esempi e il sistema trova i pattern da solo.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Deep Learning: reti neurali profonde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Ispirato (vagamente) al funzionamento del cervello umano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Reti di 'neuroni artificiali' organizzati in strati (layers)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Piu strati = piu profondo = 'Deep' Learning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Eccelle nel riconoscimento di pattern complessi: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Immagini, audio, video, testo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Richiede enormi quantita di dati e potenza di calcolo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 la tecnologia alla base dei modelli AI moderni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LLM: Large Language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Modelli di linguaggio 'grandi' — addestrati su enormi quantita di testo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Comprendono e generano linguaggio naturale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Esempi: GPT-4 (OpenAI), Claude (Anthropic), Llama (Meta), Gemini (Google)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Sono il motore dietro ChatGPT, Claude e gli altri chatbot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Parametri: da miliardi a migliaia di miliardi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GPT-4: stimati ~1.700 miliardi di parametri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Llama 3.1: fino a 405 miliardi di parametri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Non sono 'intelligenti' — sono predittori di testo estremamente sofisticati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B80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Confronto: ML vs DL vs LLM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1737360"/>
          <a:ext cx="10180012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5003"/>
                <a:gridCol w="2545003"/>
                <a:gridCol w="2545003"/>
                <a:gridCol w="2545003"/>
              </a:tblGrid>
              <a:tr h="43891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Caratteristica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Machine Learning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Deep Learning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LLM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Tipo di dati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Tabelle, numeri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Immagini, audio, testo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Testo naturale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Complessita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Media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Alta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Molto alta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Dati necessari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Migliaia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Milioni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Miliardi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Esempi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Filtro spam, previsioni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Riconosc. facciale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ChatGPT, Claude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Interazione utente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Indiretta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Indiretta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Conversazionale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2E88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Come funziona un LLM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Spiegazione intuitiva, senza matematica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Concetto chiave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B6B72"/>
                </a:solidFill>
                <a:latin typeface="Consolas"/>
              </a:defRPr>
            </a:pPr>
            <a:r>
              <a:t>IL CONCETTO CHIAVE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80015" cy="27432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0">
                <a:solidFill>
                  <a:srgbClr val="0B0B0C"/>
                </a:solidFill>
                <a:latin typeface="Georgia"/>
              </a:defRPr>
            </a:pPr>
            <a:r>
              <a:t>Un LLM prevede la parola successiva</a:t>
            </a:r>
            <a:br/>
            <a:r>
              <a:t>piu probabile, una alla volta.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6634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9204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Come l'autocompletamento del telefono, ma enormemente piu sofisticato.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Su cosa e stato addestrato?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Libri, articoli scientifici, pagine web, Wikipedia, forum, codice sorgente...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Centinaia di miliardi di parole in decine di lingue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Il modello NON memorizza i testi — impara i PATTERN del linguaggio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Analogia: chi legge 10.000 romanzi non li ricorda tutti,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ma sa come si costruisce una frase, un dialogo, un ragionamento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Il modello e il risultato di cio che ha letto, non una copia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Token: le unita di testo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Il modello non legge 'parole' ma 'token'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Un token e circa 3/4 di una parola (in inglese)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Esempio: 'Intelligenza Artificiale' = 4-5 token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Perche e importante?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 costi si calcolano in token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La lunghezza massima si misura in token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ChatGPT-4o: ~128.000 token di contesto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Claude Opus: ~200.000 token di contesto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La finestra di contesto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Quantita massima di testo che il modello 'vede' in una conversazione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Include: le tue domande + le risposte del modello + istruzioni di sistema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Quando il contesto si riempie, il modello 'dimentica' i messaggi piu vecchi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Analogia: una scrivania con spazio limitato.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Puoi avere tanti fogli, ma a un certo punto devi togliere i piu vecchi.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Conversazioni troppo lunghe possono perdere il filo!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Temperatura: creativita vs precisione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La 'temperatura' controlla quanto il modello e creativo vs prevedibile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Temperatura BASSA (0.0 - 0.3):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Risposte precise, ripetibili, conservative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Ideale per: dati, analisi, fatti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Temperatura ALTA (0.7 - 1.0):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Risposte varie, creative, sorprendenti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Ideale per: brainstorming, scrittura creativa, idee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La maggior parte dei tool gestisce questo automaticamente per 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Cosa un LLM NON sa fare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NON accede a Internet in tempo reale (salvo plugin specifici)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NON ha memoria tra conversazioni diverse (salvo funzioni dedicate)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NON 'ragiona' come un umano — simula il ragionamento tramite pattern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NON e aggiornato — ha una data limite di addestramento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NON garantisce accuratezza — puo inventare fatti ('allucinazioni')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NON capisce realmente — non ha coscienza, emozioni o intenzioni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Strumento potentissimo, ma va usato con consapevolezza!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Analogie utili per ricordare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LLM come AUTOCOMPLETAMENTO avanzato del telefono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Prevede la prossima parola, ma con molta piu sofisticazione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LLM come STAGISTA brillante ma inesperto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Veloce, produttivo, ma va sempre verificato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LLM come PAPPAGALLO colto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Riproduce pattern linguistici senza vera comprensione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LLM come CALCOLATRICE per il linguaggio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Strumento potente, ma il giudizio resta umano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00C28A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Panoramica degli strumenti disponibili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00C28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ChatGPT, Claude, Gemini e modelli open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Il panorama AI nel 2025-2026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Il mercato degli strumenti AI conversazionali e in rapida evoluzione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Tre categorie principali: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COMMERCIALI CHIUSI: ChatGPT (OpenAI), Claude (Anthropic), Gemini (Google)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Facili da usare, potenti, ma con limitazioni sul piano gratuito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OPEN SOURCE / OPEN WEIGHT: Llama (Meta), Mistral, Gemma (Google)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Gratuiti, personalizzabili, ma richiedono piu competenze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INTEGRATI: Microsoft Copilot, Apple Intelligence, Notion AI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Incorporati in strumenti che gia usi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ChatGPT (OpenAI)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Il piu conosciuto e diffuso al mondo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Modello principale: GPT-4o (omni) — testo, immagini, audio, video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Piano Free: GPT-4o mini, uso limitato di GPT-4o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Piano Plus (20$/mese): accesso completo, DALL-E, GPTs personalizzati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Punti di forza: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Ecosistema vastissimo (plugin, GPTs, API)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Navigazione web integrata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Generazione immagini con DALL-E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Limiti: puo essere verboso, allucinazioni, privacy dei dati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Claude (Anthropic)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Creato da Anthropic, focalizzato su sicurezza e affidabilita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Modelli: Opus (potente), Sonnet (bilanciato), Haiku (veloce)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Piano Free: Claude Sonnet, uso limitato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Piano Pro (20$/mese): accesso a tutti i modelli, piu utilizzo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Punti di forza: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Eccellente nell'analisi di documenti lunghi (200K token)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Artifacts: genera codice, grafici, documenti interattivi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Projects: organizza conversazioni per progetto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Risposte spesso piu precise e meno verbose di ChatGPT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Limiti: no generazione immagini nativa, ecosistema piu piccolo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Altri strumenti da conoscere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5A1F"/>
                </a:solidFill>
                <a:latin typeface="Georgia"/>
              </a:defRPr>
            </a:pPr>
            <a:r>
              <a:t>Google Gemini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286000"/>
            <a:ext cx="914400" cy="32004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Integrato nell'ecosistema Google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Accesso a dati Google (Gmail, Drive...)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Modelli Gemini 2.5 Pro/Flash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Gratuito con account Google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Forte nel ragionamento multimodale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E3CFF"/>
                </a:solidFill>
                <a:latin typeface="Georgia"/>
              </a:defRPr>
            </a:pPr>
            <a:r>
              <a:t>Microsoft Copilot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286000"/>
            <a:ext cx="914400" cy="32004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Integrato in Windows e Office 365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Basato su GPT-4 di OpenAI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Gratis nella versione base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Copilot Pro in Word, Excel, PPT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Ideale se usi gia Microsoft 365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Modelli Open Source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Modelli il cui codice/pesi sono pubblicamente disponibili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Llama 3.1 (Meta): uno dei piu potenti modelli open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Mistral / Mixtral: azienda francese, ottima qualita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Gemma 2 (Google): versione open dei modelli Google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Come usarli SENZA installare nulla?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HuggingChat (huggingface.co/chat) — interfaccia web gratuita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Google AI Studio (aistudio.google.com) — per Gemma e Gemini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Nel Modulo 5 li esploreremo in dettaglio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B80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Confronto rapido tra strumenti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1737360"/>
          <a:ext cx="10180012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5003"/>
                <a:gridCol w="2545003"/>
                <a:gridCol w="2545003"/>
                <a:gridCol w="2545003"/>
              </a:tblGrid>
              <a:tr h="43891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Caratteristica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ChatGPT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Claude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HuggingChat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Azienda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Anthropic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Hugging 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Piano gratuito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Si (limitato)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Si (limitato)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Si (illimitato)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Analisi documenti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Buona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Eccellente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Generazione immagini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Si (DALL-E)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Si (alcuni modelli)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Navigazione web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Ideale per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Uso generico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Analisi e scrittura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Sperimentare open source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B800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Laboratorio pratico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B80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Prima interazione con ChatGPT, Claude e HuggingChat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Preparazione: crea i tuoi account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ChatGPT: vai su chat.openai.com e registrati (gratis)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Claude: vai su claude.ai e registrati (gratis)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HuggingChat: vai su huggingface.co/chat (gratis, opzionale login)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Suggerimenti: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Usa la stessa email per tutti (facilita la gestione)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 piani gratuiti sono sufficienti per tutto il corso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Se hai gia un account, assicurati di poter accedere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Esercizio 1: La stessa domanda su tre strumenti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Poni la STESSA domanda a ChatGPT, Claude e HuggingChat: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Domanda suggerita: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'Spiega cos'e l'intelligenza artificiale a un bambino di 10 anni,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usando un esempio tratto dalla vita quotidiana.'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Per ogni risposta, annota: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Lunghezza della risposta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Chiarezza e semplicita del linguaggio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Qualita dell'esempio scelto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Quale preferisci e perche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Esercizio 2: analizza le differenze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Dopo aver ricevuto le tre risposte, rifletti: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Le risposte sono simili o molto diverse?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Quale strumento ha centrato meglio il tono (bambino di 10 anni)?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Quale esempio ti sembra piu efficace?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Hai notato errori o informazioni discutibili?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Non esiste una risposta 'giusta' — l'obiettivo e sviluppare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senso critico verso gli output dell'AI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Discussione di gruppo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Condividi le tue osservazioni con il gruppo: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- Quale strumento hai preferito e perche?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- Hai trovato differenze sorprendenti?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- Ti sei fidato subito delle risposte?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- Cambieresti qualcosa nella domanda per ottenere risultati migliori?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Spoiler: la qualita della domanda e importante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quanto la qualita dello strumento!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(Nel prossimo modulo impareremo esattamente come formulare domande efficaci)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640080"/>
            <a:ext cx="27432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6FF3D"/>
                </a:solidFill>
                <a:latin typeface="Consolas"/>
              </a:defRPr>
            </a:pPr>
            <a:r>
              <a:t>RIEPILOGO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9601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200" b="1" i="1">
                <a:solidFill>
                  <a:srgbClr val="FFFFFF"/>
                </a:solidFill>
                <a:latin typeface="Georgia"/>
              </a:defRPr>
            </a:pPr>
            <a:r>
              <a:t>Concetti chiave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6916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180015" cy="41148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L'AI e un campo vasto; gli LLM sono lo strato piu recente e accessibile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Un LLM prevede la parola successiva — non 'capisce' realmente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Esistono strumenti commerciali (ChatGPT, Claude) e open source (Llama, Mistral)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I piani gratuiti sono sufficienti per iniziare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Ogni strumento ha punti di forza diversi — confrontare e fondamentale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La qualita della domanda determina la qualita della risposta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371600"/>
            <a:ext cx="10180015" cy="3657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6FF3D"/>
                </a:solidFill>
                <a:latin typeface="Consolas"/>
              </a:defRPr>
            </a:pPr>
            <a:r>
              <a:t>PROSSIMO MODULO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180015" cy="2286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Georgia"/>
              </a:defRPr>
            </a:pPr>
            <a:r>
              <a:t>Modulo 2: Prompt Engineering</a:t>
            </a:r>
            <a:br/>
            <a:r>
              <a:t>L'arte di fare le domande giuste all'AI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75488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011680"/>
            <a:ext cx="10180015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9600" b="1" i="1">
                <a:solidFill>
                  <a:srgbClr val="FFFFFF"/>
                </a:solidFill>
                <a:latin typeface="Georgia"/>
              </a:defRPr>
            </a:pPr>
            <a:r>
              <a:t>Domande?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657600"/>
            <a:ext cx="210312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023360"/>
            <a:ext cx="10180015" cy="7315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B5B5BC"/>
                </a:solidFill>
                <a:latin typeface="Calibri"/>
              </a:defRPr>
            </a:pPr>
            <a:r>
              <a:t>Non esistono domande stupide.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630936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