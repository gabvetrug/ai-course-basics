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4 OPENING</a:t>
            </a:r>
          </a:p>
          <a:p/>
          <a:p>
            <a:r>
              <a:t>· Introduce the module and its objectives</a:t>
            </a:r>
          </a:p>
          <a:p>
            <a:r>
              <a:t>· Verify everyone has access to the tools</a:t>
            </a:r>
          </a:p>
          <a:p>
            <a:r>
              <a:t>· Preview the structure: theory first, then hands-on</a:t>
            </a:r>
          </a:p>
          <a:p>
            <a:r>
              <a:t>· Suggested time: 2-3 minutes</a:t>
            </a:r>
          </a:p>
          <a:p/>
          <a:p>
            <a:r>
              <a:t>Opening question: 'Has anyone used AI tools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Walk through each agenda item briefly</a:t>
            </a:r>
          </a:p>
          <a:p>
            <a:r>
              <a:t>· Point out the hands-on labs and breaks</a:t>
            </a:r>
          </a:p>
          <a:p>
            <a:r>
              <a:t>· Ask if there are any particular expectations</a:t>
            </a:r>
          </a:p>
          <a:p>
            <a:r>
              <a:t>· Suggested time: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Anthropic and Claude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Founded in 2021 by former OpenAI researchers (Dario and Daniela Amodei); Mission: build reliable, interpretable and steerable AI; Key difference from OpenAI: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Claude Opus — The most powerful; Claude Sonnet — The balanced one (default model); Claude Haiku — The ultra-fast one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LEFT SIDEBAR; CENTRAL AREA; Cleaner and less 'cluttered' design compared to ChatGPT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Distinctive features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Artifacts is Claude's most innovative feature; What it is: a side panel that displays INTERACTIVE outputs; How to activate it: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DOCUMENTS: 'Create a formatted document with a table of contents for...'; CALCULATORS: 'Create an interactive calculator for [formula]'; DASHBOARDS: 'Create an HTML dashboard that visualizes this data...'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Projects lets you create dedicated 'workspaces'; Each project contains:; Practical example: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Upload and file analysis (like ChatGPT, but with some differences):; Claude's strengths in document analysis:; Image analysis: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Claude has a recognizable style that differs from ChatGPT:; HONESTY: admits when it doesn't know something; STRUCTURE: very well-organized responses by default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Claude vs ChatGPT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Choose Claude when:; In summary: Claude is ideal for structured work,; in-depth analysis and document production.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Choose ChatGPT when:; In summary: ChatGPT is ideal for varied tasks,; web search, images and general use.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1: Long document analysis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Material: a long document (10+ pages); Step 1: Upload the document to claude.ai; Step 2: Initial prompt: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After the initial analysis, ask progressively more specific questions:; Level 1 (general understanding):; Level 2 (specific search):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If time allows, upload the same document to ChatGPT; and ask the same questions.; Compare: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2: Interactive Artifacts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Ask Claude:; Observe:; Extra exercise: 'Transform this artifact into an email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Ask Claude:; Try using the calculator: does it work? Are the calculations correct?; If something is wrong: 'The calculation for field X is incorrect,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Ask Claude:; Iterate: 'Change the colors to [palette]'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3: Direct comparison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Choose ONE complex task and send the SAME prompt to Claude and ChatGPT; Suggested tasks:; Send the SAME prompt, word for word, to both.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4: Projects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Step 1: In the sidebar, click '+ New project'; Step 2: Name the project (e.g., 'Weekly Sales Report'); Step 3: Write the custom instructions: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Once configured, every new chat in the project:; Example workflow: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RECURRING REPORTS: weekly/monthly reports with a fixed format; PROJECT ASSISTANT: an AI dedicated to a specific project; KNOWLEDGE BASE: FAQ and procedures for your team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USE ARTIFACTS for any structured or visual output; 2. PROJECTS for anything recurring (reports, analysis, writing); 3. SPECIFY THE FORMAT: Claude is excellent at respecting it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RECAP</a:t>
            </a:r>
          </a:p>
          <a:p/>
          <a:p>
            <a:r>
              <a:t>· Go through each point quickly — DON'T re-explain everything</a:t>
            </a:r>
          </a:p>
          <a:p>
            <a:r>
              <a:t>· Ask: 'What concept stood out the most?'</a:t>
            </a:r>
          </a:p>
          <a:p>
            <a:r>
              <a:t>· Ask: 'Is there anything that's still unclear?'</a:t>
            </a:r>
          </a:p>
          <a:p>
            <a:r>
              <a:t>· If there are doubts, clarify now before moving on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MODULE PREVIEW</a:t>
            </a:r>
          </a:p>
          <a:p/>
          <a:p>
            <a:r>
              <a:t>· Briefly preview what's coming next</a:t>
            </a:r>
          </a:p>
          <a:p>
            <a:r>
              <a:t>· Build curiosity without giving too much away</a:t>
            </a:r>
          </a:p>
          <a:p>
            <a:r>
              <a:t>· Announce the break if scheduled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· Open the floor: 'Any questions?'</a:t>
            </a:r>
          </a:p>
          <a:p>
            <a:r>
              <a:t>· If nobody asks, prompt with:</a:t>
            </a:r>
          </a:p>
          <a:p>
            <a:r>
              <a:t>  'Which tool do you think you'll use first at work?'</a:t>
            </a:r>
          </a:p>
          <a:p>
            <a:r>
              <a:t>· Manage time: max 5 minutes</a:t>
            </a:r>
          </a:p>
          <a:p>
            <a:r>
              <a:t>· If too many questions, offer to continue during the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Full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Module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Claude: the rival you need to know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  |  Duration: 3 hours  |  0.5h Theory + 2.5h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08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syllabus.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What we'll cover in this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Anthropic: who is behind Claude and why it's different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The Claude models: Opus, Sonnet, Haiku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Distinctive features: long context, Artifacts, Projects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Claude vs ChatGPT: strengths compared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1: analyzing a long document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2: creating interactive Artifacts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3: direct comparison Claude vs ChatGPT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Anthropic and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The company, the philosophy and the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Who is Anthropic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Founded in 2021 by former OpenAI researchers (Dario and Daniela Amodei)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Mission: build reliable, interpretable and steerable 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Key difference from OpenAI: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OpenAI: 'Let's move fast, AI is too important to slow down'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Anthropic: 'Let's move responsibly, safety comes first'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Funded by Google, Amazon and others for over 7 billion dollars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Headquarters: San Francisco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is Anthropic's only consumer product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name comes from Claude Shannon, father of information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THE PHILOSOPHY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Constitutional AI:</a:t>
            </a:r>
            <a:br/>
            <a:r>
              <a:t>the model follows a set of ethical principles</a:t>
            </a:r>
            <a:br/>
            <a:r>
              <a:t>defined explicitly, not just human feedback.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Result: Claude tends to be more cautious, honest and structured in its responses.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Claude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Opus — The most powerful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Complex reasoning, in-depth analysis, difficult tasks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Slower and more expensive, but superior quality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Sonnet — The balanced one (default model)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Excellent quality/speed ratio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Ideal for most daily uses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Haiku — The ultra-fast 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Near-instant responses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Ideal for simple and quick tasks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All three models share: 200K token context,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image and file analysis, Claude response 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Plans and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 ($20/month)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($25/month/user)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Default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Sonnet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Sonnet + Opus + 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Sonnet + Opus + 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Daily messages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5x compared to Free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Even more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200K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200K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200K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Artifacts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 (limited)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 (shared)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File upload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Data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Possible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Claude.ai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LEFT SIDEBAR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New chat (+ icon)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Recent: conversation history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Projects: your organized projects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Star: favorite conversations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CENTRAL AREA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Clean and minimal 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Model selection at the top (Opus / Sonnet / Haiku)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Attachment icon for file and image uploads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Artifact panel on the right (when active)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Cleaner and less 'cluttered' design compared to ChatGPT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Distinctive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What makes Claude different from the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LONG CONTEXT: 200,000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Claude can analyze in a single conversation</a:t>
            </a:r>
            <a:br/>
            <a:r>
              <a:t>approximately 500 pages of text.</a:t>
            </a:r>
            <a:br/>
            <a:r>
              <a:t>For comparison: ChatGPT Free handles about 100.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Ideal for: contract analysis, long reports, manuals, complete source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Artifacts: interactive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Artifacts is Claude's most innovative feature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What it is: a side panel that displays INTERACTIVE outputs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Formatted documents (Markdown)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Code with syntax highlighting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Interactive HTML/CSS pages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SVG charts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Diagrams and flowcharts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Simple web applications (calculators, quizzes, dashboards)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activate it: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Ask for something that lends itself to a structured output.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Claude decides on its own when to create an Artifact.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Or: 'Create an artifact with...'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Most useful Artifact types for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DOCUMENTS: 'Create a formatted document with a table of contents for...'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Perfect for: reports, procedures, manuals, meeting minutes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CALCULATORS: 'Create an interactive calculator for [formula]'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Perfect for: quotes, ROI, conversions, estimates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DASHBOARDS: 'Create an HTML dashboard that visualizes this data...'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Perfect for: data visualizations, KPIs, overviews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DIAGRAMS: 'Create a flowchart of the process...'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Perfect for: workflows, procedures, org charts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You can download, copy or share any Artifact via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Projects: organizing your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Projects lets you create dedicated 'workspaces'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Each project contains: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Custom instructions (specific system prompt)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Context documents (permanent file uploads)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 history related to the project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Practical example: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Project: 'Monthly Marketing Report'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Instructions: 'You are a marketing analyst. Use the data from the attached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files to respond. Format: executive summary + detail.'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Files: report template, previous month data, brand guidelines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Every new chat in the project ALREADY has all the necessary context!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Document and image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Upload and file analysis (like ChatGPT, but with some differences):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PDFs, documents, spreadsheets, images, code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200K token window allows for much longer documents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Claude's strengths in document analysis: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Follows instructions more faithfully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Structures responses with greater precision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Handles documents with complex structures better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Cites relevant parts of the document in its responses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Image analysis: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Reads and interprets charts, tables, screenshots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Extracts text from images (OCR)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Does NOT generate images (unlike ChatGPT)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Claude's response style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has a recognizable style that differs from ChatGPT: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HONESTY: admits when it doesn't know something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 don't have enough information to answer with certainty'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STRUCTURE: very well-organized responses by default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Headers, lists, clear sections without having to ask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CONCISENESS: tends to be less verbose than ChatGPT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Gets to the point without excessive preambles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CAUTION: more conservative on uncertain claims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Fewer hallucinations, more disclaimers when appropriate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LITERALNESS: follows prompt instructions to the letter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Respects format, length, constraints more faithfully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Claude vs 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It's not a competition: it's a conscious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Strengths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Claude excels at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Long document analysis (200K tokens)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Faithfulness to prompt instructions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Artifacts: interactive and visual outputs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Projects: work organization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Writing quality and structure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Honesty (admits when it doesn't know)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Coding and logical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ChatGPT excels 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Image generation (DALL-E)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Integrated web browsing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Vast GPT ecosystem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Code Interpreter for data analysis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Memory across conversations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Advanced voice mode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Community and online 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When to choose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Choose Claude when: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to analyze long documents (contracts, manuals, reports)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a highly structured and precise response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want to create interactive outputs (Artifacts)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work on a project with fixed context (Projects)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quality in writing (tone, style, structure)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want honest responses ('I don't know' instead of making things up)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to write or analyze complex code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summary: Claude is ideal for structured work,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in-depth analysis and document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When to choose ChatGPT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Choose ChatGPT when: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images (DALL-E)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to search for up-to-date information online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want a specialized GPT from the community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data analysis with charts (Code Interpreter)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want to use voice mode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need a general-purpose 'all-rounder' tool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are looking for the broadest community and resources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summary: ChatGPT is ideal for varied tasks,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web search, images and general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1: Long document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Leveraging the 200K token context window —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upload and query a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Material: a long document (10+ pages)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Suggestion: use a regulation, manual, contract or public report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(downloadable from official websites, no confidential data!)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1: Upload the document to claude.ai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2: Initial prompt: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 have uploaded a [N]-page document about [TOPIC].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First, tell me what it is about and what its structure is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(main sections with a brief description of each).'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3: Let Claude analyze. Observe the quality of the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Targeted questions about the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After the initial analysis, ask progressively more specific questions: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Level 1 (general understanding):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'What are the 5 most important points of this document?'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Level 2 (specific search):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'What does the document say about [specific topic]?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Cite the relevant passages.'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Level 3 (critical analysis):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'Are there contradictions or ambiguities in the document?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Highlight any gaps or unclear points.'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Level 4 (application):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'Based on this document, create an operational checklist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of 10 points for [role/activity].'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Comparison: same document on ChatGPT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If time allows, upload the same document to ChatGPT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and ask the same questions.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Compare: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one understood the document structure better?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one answered specific questions better?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one cited passages more precisely?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one handled critical questions better?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You will usually notice: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Claude: more precise in citations, more structured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ChatGPT: more conversational, sometimes more creative in interpretations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2: Interactive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Creating visual and functional outputs —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1: formatted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Ask Claude: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an artifact with a formatted document: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Title: Quick Guide to Using AI in Our Team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Sections: Approved Tools, Usage Rules, 5 Useful Prompts,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FAQ (5 questions). Professional format with table of contents.'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Observe: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artifact opens in the right side panel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can copy, download or modify the content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can request changes: 'Add a section about...'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Extra exercise: 'Transform this artifact into an email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to send to the team to announce these guidelines'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2: interactive calculator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Ask Claude: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an HTML artifact with an interactive calculator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 [CHOOSE ONE]: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a) Project ROI calculation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b) Service quote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c) Unit conversion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d) Deadline/timeline calculator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It should have: input fields, Calculate button,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results area with explanation. Clean and modern design.'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Try using the calculator: does it work? Are the calculations correct?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If something is wrong: 'The calculation for field X is incorrect,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the correct formula is [FORMULA]'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3: data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Ask Claude: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an HTML artifact with a dashboard that visualizes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this quarterly sales data: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Q1: 150K, Q2: 180K, Q3: 165K, Q4: 210K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Product A: 40%, Product B: 35%, Product C: 25%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Include: bar chart for quarters, pie chart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 products, year-over-year growth indicator,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summary table. Modern design with consistent colors.'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Iterate: 'Change the colors to [palette]'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'Add a field to enter next quarter's data'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3: Direct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Same task, two tools, different results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structured comparative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Choose ONE complex task and send the SAME prompt to Claude and ChatGPT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tasks: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A. 'Analyze the pros and cons of remote work for a company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of 50 people. Create a 1-page report with a recommendation.'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B. 'Write a business proposal for an AI consulting service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aimed at SMEs. Max 2 pages, professional tone.'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C. 'Create a 30-day onboarding plan for a new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employee in the marketing department. Week-by-week table.'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Send the SAME prompt, word for word, to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Comparison sheet (fill it in!)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Adherence to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Structure and formatting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Content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Conciseness vs verbosity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Originality of ideas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Factual accuracy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Tone and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4: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Organizing work with persistent context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Creating a project on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1: In the sidebar, click '+ New project'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2: Name the project (e.g., 'Weekly Sales Report')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3: Write the custom instructions: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Example: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'You are a sales analyst for a company in [industry].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When I send you data, analyze it and create a report with: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Performance summary (3 lines)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Top 3 products by growth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Warning signals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- 2 suggested actions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Format: bullet points, professional tone, max 1 page.'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4: Upload context files (templates, historical data, KPIs)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Working within the project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Once configured, every new chat in the project: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ALREADY knows the instructions and uploaded files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don't need to repeat the context every time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Can reference the uploaded documents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Example workflow: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Monday: 'Here is this week's data [paste]. Analyze.'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Claude produces the report in the defined format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Tuesday: 'Compare with last week [paste].'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Claude already knows the format and context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Friday: 'Create the weekly summary for management.'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Claude knows all the week's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Ideas for useful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RECURRING REPORTS: weekly/monthly reports with a fixed format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Upload: template, target KPIs, historical data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PROJECT ASSISTANT: an AI dedicated to a specific project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Upload: brief, timeline, reference documents, stakeholders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KNOWLEDGE BASE: FAQ and procedures for your team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Upload: manuals, procedures, internal regulations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BRAND WRITING: content consistent with the company tone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Upload: brand guidelines, communication examples, tone of voice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 good project is configured once and used for months!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Tips &amp; tricks for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USE ARTIFACTS for any structured or visual output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PROJECTS for anything recurring (reports, analysis, writing)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SPECIFY THE FORMAT: Claude is excellent at respecting it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LONG DOCUMENTS: Claude is the best for contract/manual analysis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CHOOSE THE MODEL: Haiku for quick questions, Sonnet for daily use,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Opus for complex analysis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ASK FOR CITATIONS: 'Cite the relevant passages from the document'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7. ITERATE ON ARTIFACTS: you can refine them with specific feedback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8. NO IMAGE GENERATION: for visuals, create the artifact and use DALL-E for photos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Claude is built on Anthropic's 'safe AI' philosophy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Three models: Opus (powerful), Sonnet (balanced), Haiku (fast)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200K token context: ideal for long documents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Artifacts: uniquely interactive outputs (calculators, dashboards, documents)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Projects: workspaces with persistent context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Claude and ChatGPT have different strengths — use both strategically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NEXT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Module 5: Open Source Models</a:t>
            </a:r>
            <a:br/>
            <a:r>
              <a:t>Free and open alternatives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There are no stupid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