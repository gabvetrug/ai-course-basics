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1 OPENING</a:t>
            </a:r>
          </a:p>
          <a:p/>
          <a:p>
            <a:r>
              <a:t>· Introduce the module and its objectives</a:t>
            </a:r>
          </a:p>
          <a:p>
            <a:r>
              <a:t>· Verify everyone has access to the tools</a:t>
            </a:r>
          </a:p>
          <a:p>
            <a:r>
              <a:t>· Preview the structure: theory first, then hands-on</a:t>
            </a:r>
          </a:p>
          <a:p>
            <a:r>
              <a:t>· Suggested time: 2-3 minutes</a:t>
            </a:r>
          </a:p>
          <a:p/>
          <a:p>
            <a:r>
              <a:t>Opening question: 'Has anyone used AI tools this week?'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Walk through each agenda item briefly</a:t>
            </a:r>
          </a:p>
          <a:p>
            <a:r>
              <a:t>· Point out the hands-on labs and breaks</a:t>
            </a:r>
          </a:p>
          <a:p>
            <a:r>
              <a:t>· Ask if there are any particular expectations</a:t>
            </a:r>
          </a:p>
          <a:p>
            <a:r>
              <a:t>· Suggested time: 2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What Is Artificial Intelligence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/>
          <a:p>
            <a:r>
              <a:t>&gt;&gt;&gt; PAUSE HERE — Give time to read &lt;&lt;&lt;</a:t>
            </a:r>
          </a:p>
          <a:p/>
          <a:p>
            <a:r>
              <a:t>· This slide contains a fundamental concept</a:t>
            </a:r>
          </a:p>
          <a:p>
            <a:r>
              <a:t>· Read the text aloud, then paraphrase</a:t>
            </a:r>
          </a:p>
          <a:p>
            <a:r>
              <a:t>· Ask: 'Can someone rephrase this in their own words?'</a:t>
            </a:r>
          </a:p>
          <a:p>
            <a:r>
              <a:t>· Make sure everyone understands before moving on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1950 — Alan Turing proposes the 'Turing Test'; 1956 — The field of AI is officially born (Dartmouth conference); 1960-80 — First expert systems, then the first 'AI winter'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Voice assistants (Siri, Alexa, Google Assistant); Recommendations from Netflix, Spotify, YouTube; Anti-spam filters in email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COMPARISON: AI Basics Course</a:t>
            </a:r>
          </a:p>
          <a:p/>
          <a:p>
            <a:r>
              <a:t>· Present the left side first, then the right</a:t>
            </a:r>
          </a:p>
          <a:p>
            <a:r>
              <a:t>· Highlight the key differences</a:t>
            </a:r>
          </a:p>
          <a:p>
            <a:r>
              <a:t>· Ask participants which they prefer and why</a:t>
            </a:r>
          </a:p>
          <a:p>
            <a:r>
              <a:t>· Stay neutral: the message is 'it depends on context'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Machine Learning, Deep Learning and LLMs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ARTIFICIAL INTELLIGENCE (the broadest field); Each layer is a subset of the previous one.; We will focus on LLMs, which are the most recent layer.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/>
          <a:p>
            <a:r>
              <a:t>&gt;&gt;&gt; PAUSE HERE — Give time to read &lt;&lt;&lt;</a:t>
            </a:r>
          </a:p>
          <a:p/>
          <a:p>
            <a:r>
              <a:t>· This slide contains a fundamental concept</a:t>
            </a:r>
          </a:p>
          <a:p>
            <a:r>
              <a:t>· Read the text aloud, then paraphrase</a:t>
            </a:r>
          </a:p>
          <a:p>
            <a:r>
              <a:t>· Ask: 'Can someone rephrase this in their own words?'</a:t>
            </a:r>
          </a:p>
          <a:p>
            <a:r>
              <a:t>· Make sure everyone understands before moving on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Loosely inspired by how the human brain works; Networks of 'artificial neurons' organized in layers; More layers = deeper = 'Deep' Learning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'Large' language models — trained on enormous amounts of text; They understand and generate natural language; Examples: GPT-4 (OpenAI), Claude (Anthropic), Llama (Meta), Gemini (Google)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TABLE: AI Basics Course</a:t>
            </a:r>
          </a:p>
          <a:p/>
          <a:p>
            <a:r>
              <a:t>· Don't read the whole table — highlight 2-3 key rows</a:t>
            </a:r>
          </a:p>
          <a:p>
            <a:r>
              <a:t>· Ask participants to find the most surprising data point</a:t>
            </a:r>
          </a:p>
          <a:p>
            <a:r>
              <a:t>· Leave the table visible for a few seconds for reading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How an LLM Works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CONCEPT</a:t>
            </a:r>
          </a:p>
          <a:p/>
          <a:p>
            <a:r>
              <a:t>&gt;&gt;&gt; PAUSE HERE — Give time to read &lt;&lt;&lt;</a:t>
            </a:r>
          </a:p>
          <a:p/>
          <a:p>
            <a:r>
              <a:t>· This slide contains a fundamental concept</a:t>
            </a:r>
          </a:p>
          <a:p>
            <a:r>
              <a:t>· Read the text aloud, then paraphrase</a:t>
            </a:r>
          </a:p>
          <a:p>
            <a:r>
              <a:t>· Ask: 'Can someone rephrase this in their own words?'</a:t>
            </a:r>
          </a:p>
          <a:p>
            <a:r>
              <a:t>· Make sure everyone understands before moving on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Books, scientific papers, web pages, Wikipedia, forums, source code...; Hundreds of billions of words in dozens of languages; The model does NOT memorize the texts — it learns the PATTERNS of language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model does not read 'words' but 'tokens'; A token is roughly 3/4 of a word (in English); Example: 'Artificial Intelligence' = 2-3 tokens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maximum amount of text the model 'sees' in a conversation; Includes: your questions + the model's answers + system instructions; When the context fills up, the model 'forgets' the oldest messages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'Temperature' controls how creative vs predictable the model is; LOW temperature (0.0 - 0.3):; HIGH temperature (0.7 - 1.0):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Does NOT access the Internet in real time (except with specific plugins); Does NOT have memory across different conversations (except with dedicated features); Does NOT 'reason' like a human — it simulates reasoning through patterns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LLM as an advanced phone AUTOCOMPLETE; LLM as a brilliant but inexperienced INTERN; LLM as an educated PARROT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Overview of available tools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market for conversational AI tools is evolving rapidly; Three main categories:; 1. CLOSED COMMERCIAL: ChatGPT (OpenAI), Claude (Anthropic), Gemini (Google)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The most well-known and widely used in the world; Main model: GPT-4o (omni) — text, images, audio, video; Free plan: GPT-4o mini, limited use of GPT-4o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Created by Anthropic, focused on safety and reliability; Models: Opus (powerful), Sonnet (balanced), Haiku (fast); Free plan: Claude Sonnet, limited usage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COMPARISON: AI Basics Course</a:t>
            </a:r>
          </a:p>
          <a:p/>
          <a:p>
            <a:r>
              <a:t>· Present the left side first, then the right</a:t>
            </a:r>
          </a:p>
          <a:p>
            <a:r>
              <a:t>· Highlight the key differences</a:t>
            </a:r>
          </a:p>
          <a:p>
            <a:r>
              <a:t>· Ask participants which they prefer and why</a:t>
            </a:r>
          </a:p>
          <a:p>
            <a:r>
              <a:t>· Stay neutral: the message is 'it depends on context'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Models whose code/weights are publicly available; Llama 3.1 (Meta): one of the most powerful open models; Mistral / Mixtral: French company, excellent quality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TABLE: AI Basics Course</a:t>
            </a:r>
          </a:p>
          <a:p/>
          <a:p>
            <a:r>
              <a:t>· Don't read the whole table — highlight 2-3 key rows</a:t>
            </a:r>
          </a:p>
          <a:p>
            <a:r>
              <a:t>· Ask participants to find the most surprising data point</a:t>
            </a:r>
          </a:p>
          <a:p>
            <a:r>
              <a:t>· Leave the table visible for a few seconds for reading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TRANSITION</a:t>
            </a:r>
          </a:p>
          <a:p/>
          <a:p>
            <a:r>
              <a:t>Title: Hands-on lab</a:t>
            </a:r>
          </a:p>
          <a:p/>
          <a:p>
            <a:r>
              <a:t>· Brief pause: 'Everything clear so far?'</a:t>
            </a:r>
          </a:p>
          <a:p>
            <a:r>
              <a:t>· Introduce the new section topic</a:t>
            </a:r>
          </a:p>
          <a:p>
            <a:r>
              <a:t>· Connect with the previous section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1. ChatGPT: go to chat.openai.com and sign up (free); 2. Claude: go to claude.ai and sign up (free); 3. HuggingChat: go to huggingface.co/chat (free, optional login)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Ask the SAME question to ChatGPT, Claude and HuggingChat:; Suggested question:; For each response, note: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After receiving the three responses, reflect:; 1. Are the responses similar or very different?; 2. Which tool best matched the tone (10-year-old child)?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AI Basics Course</a:t>
            </a:r>
          </a:p>
          <a:p/>
          <a:p>
            <a:r>
              <a:t>Key points to emphasize:</a:t>
            </a:r>
          </a:p>
          <a:p>
            <a:r>
              <a:t>· Share your observations with the group:; - Which tool did you prefer and why?; - Did you find any surprising differences?</a:t>
            </a:r>
          </a:p>
          <a:p/>
          <a:p>
            <a:r>
              <a:t>Tips:</a:t>
            </a:r>
          </a:p>
          <a:p>
            <a:r>
              <a:t>· Don't read the bullets — paraphrase and add context</a:t>
            </a:r>
          </a:p>
          <a:p>
            <a:r>
              <a:t>· Use real-world examples from everyday work</a:t>
            </a:r>
          </a:p>
          <a:p>
            <a:r>
              <a:t>· Ask: 'Has anyone experienced this firsthand?'</a:t>
            </a:r>
          </a:p>
          <a:p>
            <a:r>
              <a:t>· Suggested time: 2-3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RECAP</a:t>
            </a:r>
          </a:p>
          <a:p/>
          <a:p>
            <a:r>
              <a:t>· Go through each point quickly — DON'T re-explain everything</a:t>
            </a:r>
          </a:p>
          <a:p>
            <a:r>
              <a:t>· Ask: 'What concept stood out the most?'</a:t>
            </a:r>
          </a:p>
          <a:p>
            <a:r>
              <a:t>· Ask: 'Is there anything that's still unclear?'</a:t>
            </a:r>
          </a:p>
          <a:p>
            <a:r>
              <a:t>· If there are doubts, clarify now before moving on</a:t>
            </a:r>
          </a:p>
          <a:p>
            <a:r>
              <a:t>· Suggested time: 3-4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MODULE PREVIEW</a:t>
            </a:r>
          </a:p>
          <a:p/>
          <a:p>
            <a:r>
              <a:t>· Briefly preview what's coming next</a:t>
            </a:r>
          </a:p>
          <a:p>
            <a:r>
              <a:t>· Build curiosity without giving too much away</a:t>
            </a:r>
          </a:p>
          <a:p>
            <a:r>
              <a:t>· Announce the break if scheduled</a:t>
            </a:r>
          </a:p>
          <a:p>
            <a:r>
              <a:t>· Suggested time: 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SESSION</a:t>
            </a:r>
          </a:p>
          <a:p/>
          <a:p>
            <a:r>
              <a:t>· Open the floor: 'Any questions?'</a:t>
            </a:r>
          </a:p>
          <a:p>
            <a:r>
              <a:t>· If nobody asks, prompt with:</a:t>
            </a:r>
          </a:p>
          <a:p>
            <a:r>
              <a:t>  'Which tool do you think you'll use first at work?'</a:t>
            </a:r>
          </a:p>
          <a:p>
            <a:r>
              <a:t>· Manage time: max 5 minutes</a:t>
            </a:r>
          </a:p>
          <a:p>
            <a:r>
              <a:t>· If too many questions, offer to continue during the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Full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Module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What Is Artificial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  |  Duration: 2 hours  |  Theory +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06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syllabus.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What we'll cover in this module.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What is Artificial Intelligence: definition and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Machine Learning, Deep Learning and LLMs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How a Large Language Model (LLM) 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Overview of available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Lab: first interaction with ChatGPT, Claude and HuggingChat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Recap and Q&amp;A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What Is Artificial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Definition, history and presence in everyday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Artificial Intelligence is the ability of a computer</a:t>
            </a:r>
            <a:br/>
            <a:r>
              <a:t>system to perform tasks that normally</a:t>
            </a:r>
            <a:br/>
            <a:r>
              <a:t>require human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Understanding language, recognizing images, making decisions, generating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 brief history of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1950 — Alan Turing proposes the 'Turing Test'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1956 — The field of AI is officially born (Dartmouth conference)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1960-80 — First expert systems, then the first 'AI winter'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1997 — Deep Blue (IBM) defeats Kasparov at chess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2012 — Deep Learning revolution: deep neural networks take off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2017 — Google publishes 'Attention Is All You Need' (Transformer architecture)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2022 — ChatGPT opens generative AI to the general public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2023-today — Explosion of AI tools accessible to everyone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AI in your daily life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Voice assistants (Siri, Alexa, Google Assistant)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Recommendations from Netflix, Spotify, YouTube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Anti-spam filters in email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GPS navigation with real-time traffic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Automatic translation (Google Translate, DeepL)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Facial recognition to unlock your phone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Autocorrect and text suggestions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You already use AI every day, without even knowing 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Narrow AI vs General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Narrow AI (Weak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Specialized in a single task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What we use today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ChatGPT, image recognition, etc.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Does not truly 'understand', it processes patterns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Very powerful within its specific domain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General AI (Strong AI)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Capable of any intellectual task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Does not exist yet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Long-term research goal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Would require genuine understanding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Often confused with AI in movies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Machine Learning, Deep Learning and LLMs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The three layers of modern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The three layers: a matryoshka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ARTIFICIAL INTELLIGENCE (the broadest field)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contains: MACHINE LEARNING (learning from data)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contains: DEEP LEARNING (deep neural networks)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contains: LLMs (Large Language Models)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Each layer is a subset of the previous one.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We will focus on LLMs, which are the most recent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A system that learns from data</a:t>
            </a:r>
            <a:br/>
            <a:r>
              <a:t>instead of being explicitly programmed.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Analogy: you don't write the rules, you show thousands of examples and the system finds the patterns on its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Deep Learning: deep neural networks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Loosely inspired by how the human brain works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Networks of 'artificial neurons' organized in layers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More layers = deeper = 'Deep' Learning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Excels at recognizing complex patterns: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Images, audio, video, text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Requires enormous amounts of data and computing power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It is the technology behind modern AI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LLM: Large Language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'Large' language models — trained on enormous amounts of text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They understand and generate natural language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Examples: GPT-4 (OpenAI), Claude (Anthropic), Llama (Meta), Gemini (Google)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They are the engine behind ChatGPT, Claude and other chatbots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Parameters: from billions to trillions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GPT-4: estimated ~1.7 trillion parameters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Llama 3.1: up to 405 billion parameters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They are not 'intelligent' — they are extremely sophisticated text predictors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Comparison: ML vs DL vs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Machine Learning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Deep Learning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LLM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Tables, numbers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Images, audio,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Natural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Data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Thousands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Millions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Billions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Spam filter, forecasts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Facial recognition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ChatGPT, Claude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User interaction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Conversational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How an LLM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An intuitive explanation, no math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Key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THE KEY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An LLM predicts the next most</a:t>
            </a:r>
            <a:br/>
            <a:r>
              <a:t>probable word, one at a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Like your phone's autocomplete, but enormously more sophisticated.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What was it trained 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Books, scientific papers, web pages, Wikipedia, forums, source code...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Hundreds of billions of words in dozens of languages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model does NOT memorize the texts — it learns the PATTERNS of language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Analogy: someone who reads 10,000 novels doesn't remember them all,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but knows how to construct a sentence, a dialogue, an argument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The model is the result of what it has read, not a 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Tokens: the units of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model does not read 'words' but 'tokens'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 token is roughly 3/4 of a word (in English)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Example: 'Artificial Intelligence' = 2-3 tokens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Why does this matter?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Costs are calculated in tokens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Maximum length is measured in tokens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ChatGPT-4o: ~128,000 token context window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Claude Opus: ~200,000 token context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The context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maximum amount of text the model 'sees' in a conversation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Includes: your questions + the model's answers + system instructions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When the context fills up, the model 'forgets' the oldest messages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Analogy: a desk with limited space.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You can have many pages, but at some point you must remove the oldest ones.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Conversations that are too long can lose the thread!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Temperature: creativity vs precision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'Temperature' controls how creative vs predictable the model is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LOW temperature (0.0 - 0.3):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Precise, repeatable, conservative responses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Ideal for: data, analysis, facts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HIGH temperature (0.7 - 1.0):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Varied, creative, surprising responses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Ideal for: brainstorming, creative writing, ideas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Most tools handle this automatically for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What an LLM CANNOT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Does NOT access the Internet in real time (except with specific plugins)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Does NOT have memory across different conversations (except with dedicated features)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Does NOT 'reason' like a human — it simulates reasoning through patterns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Is NOT up to date — it has a training data cutoff date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Does NOT guarantee accuracy — it can make up facts ('hallucinations')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Does NOT truly understand — it has no consciousness, emotions or intentions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An extremely powerful tool, but use it with awareness!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Useful analogies to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LLM as an advanced phone AUTOCOMPLETE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It predicts the next word, but with much greater sophistication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LLM as a brilliant but inexperienced INTERN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Fast, productive, but always needs to be verified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LLM as an educated PARROT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It reproduces language patterns without true understanding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LLM as a CALCULATOR for language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 powerful tool, but the judgment remains human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Overview of available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ChatGPT, Claude, Gemini and open-source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The AI landscape in 2025-2026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market for conversational AI tools is evolving rapidly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Three main categories: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CLOSED COMMERCIAL: ChatGPT (OpenAI), Claude (Anthropic), Gemini (Google)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Easy to use, powerful, but with free-tier limitations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OPEN SOURCE / OPEN WEIGHT: Llama (Meta), Mistral, Gemma (Google)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Free, customizable, but require more expertise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INTEGRATED: Microsoft Copilot, Apple Intelligence, Notion AI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Embedded in tools you already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ChatGPT (OpenAI)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The most well-known and widely used in the world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Main model: GPT-4o (omni) — text, images, audio, video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Free plan: GPT-4o mini, limited use of GPT-4o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Plus plan ($20/month): full access, DALL-E, custom GPTs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Strengths: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Vast ecosystem (plugins, GPTs, API)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Built-in web browsing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Image generation with DALL-E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Limitations: can be verbose, hallucinations, data privacy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Claude (Anthropic)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Created by Anthropic, focused on safety and reliability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Models: Opus (powerful), Sonnet (balanced), Haiku (fast)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Free plan: Claude Sonnet, limited usage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 plan ($20/month): access to all models, higher usage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Strengths: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Excellent at analyzing long documents (200K tokens)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Artifacts: generates code, charts, interactive documents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Projects: organizes conversations by project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Responses often more precise and less verbose than ChatGPT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Limitations: no native image generation, smaller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Other tools worth knowing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Google Gemini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Integrated with the Google ecosystem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Access to Google data (Gmail, Drive...)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Gemini 2.5 Pro/Flash models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Free with a Google account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Strong in multimodal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Microsoft Copilot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Integrated in Windows and Office 365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Powered by OpenAI's GPT-4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Free in the basic version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Copilot Pro in Word, Excel, PPT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Ideal if you already use Microsoft 365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Open Source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Models whose code/weights are publicly available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Llama 3.1 (Meta): one of the most powerful open models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Mistral / Mixtral: French company, excellent quality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Gemma 2 (Google): open version of Google's models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How to use them WITHOUT installing anything?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HuggingChat (huggingface.co/chat) — free web interface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Google AI Studio (aistudio.google.com) — for Gemma and Gemini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In Module 5 we will explore them in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Quick comparison of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HuggingChat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Hugging 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Free plan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 (limited)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 (limited)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 (unlimited)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Document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Image generation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 (DALL-E)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 (some models)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Web browsing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Ideal for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General use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Analysis and writing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Experimenting with open source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First interaction with ChatGPT, Claude and HuggingChat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Section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Preparation: create your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ChatGPT: go to chat.openai.com and sign up (free)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Claude: go to claude.ai and sign up (free)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HuggingChat: go to huggingface.co/chat (free, optional login)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Tips: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Use the same email for all of them (easier to manage)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The free plans are sufficient for the entire course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If you already have an account, make sure you can log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 1: The same question on three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Ask the SAME question to ChatGPT, Claude and HuggingChat: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Suggested question: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'Explain what artificial intelligence is to a 10-year-old child,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using an example from everyday life.'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 each response, note: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Length of the response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Clarity and simplicity of the language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Quality of the chosen example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Which one you prefer and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Exercise 2: analyze the differences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After receiving the three responses, reflect: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Are the responses similar or very different?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Which tool best matched the tone (10-year-old child)?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Which example seems most effective to you?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Did you notice any errors or questionable information?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There is no 'right' answer — the goal is to develop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critical thinking about AI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Group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Share your observations with the group: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Which tool did you prefer and why?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Did you find any surprising differences?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Did you immediately trust the responses?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Would you change anything in the question to get better results?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Spoiler: the quality of the question is just as important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as the quality of the tool!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(In the next module we will learn exactly how to formulate effective questions)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AI is a vast field; LLMs are the most recent and accessible layer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An LLM predicts the next word — it does not truly 'understand'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There are commercial tools (ChatGPT, Claude) and open source (Llama, Mistral)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The free plans are sufficient to get started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Each tool has different strengths — comparing them is essential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The quality of the question determines the quality of 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80015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NEXT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2286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Module 2: Prompt Engineering</a:t>
            </a:r>
            <a:br/>
            <a:r>
              <a:t>The art of asking the right questions to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There are no stupid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