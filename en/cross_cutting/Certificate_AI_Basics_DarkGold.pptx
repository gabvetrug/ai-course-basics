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57432" cy="6309360"/>
          </a:xfrm>
          <a:prstGeom prst="rect">
            <a:avLst/>
          </a:prstGeom>
          <a:solidFill>
            <a:srgbClr val="0F1116"/>
          </a:solidFill>
          <a:ln w="6350">
            <a:solidFill>
              <a:srgbClr val="A0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1183112" cy="6035040"/>
          </a:xfrm>
          <a:prstGeom prst="rect">
            <a:avLst/>
          </a:prstGeom>
          <a:solidFill>
            <a:srgbClr val="0F1116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4864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00232" y="54864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30584" y="54864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00232" y="6309360"/>
            <a:ext cx="548640" cy="18288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18520" y="5760720"/>
            <a:ext cx="18288" cy="54864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040526" y="996695"/>
            <a:ext cx="109728" cy="109728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5839358" y="1024127"/>
            <a:ext cx="54864" cy="54864"/>
          </a:xfrm>
          <a:prstGeom prst="diamond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296558" y="1024127"/>
            <a:ext cx="54864" cy="54864"/>
          </a:xfrm>
          <a:prstGeom prst="diamond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"/>
            <a:ext cx="1033272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D4AF37"/>
                </a:solidFill>
                <a:latin typeface="Consolas"/>
              </a:defRPr>
            </a:pPr>
            <a:r>
              <a:t>CERTIFICATE OF COMPLETION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80160"/>
            <a:ext cx="1033272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B8B0A0"/>
                </a:solidFill>
                <a:latin typeface="Calibri"/>
              </a:defRPr>
            </a:pPr>
            <a:r>
              <a:t>This certifies that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5600" b="1" i="1">
                <a:solidFill>
                  <a:srgbClr val="E8CF7A"/>
                </a:solidFill>
                <a:latin typeface="Georgia"/>
              </a:defRPr>
            </a:pPr>
            <a:r>
              <a:t>[FULL NAME]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468880"/>
            <a:ext cx="5760720" cy="22860"/>
          </a:xfrm>
          <a:prstGeom prst="rect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049670" y="2432304"/>
            <a:ext cx="91440" cy="91440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51760"/>
            <a:ext cx="1033272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B8B0A0"/>
                </a:solidFill>
                <a:latin typeface="Calibri"/>
              </a:defRPr>
            </a:pPr>
            <a:r>
              <a:t>has successfully completed the course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5F0E8"/>
                </a:solidFill>
                <a:latin typeface="Georgia"/>
              </a:defRPr>
            </a:pPr>
            <a:r>
              <a:t>AI Basics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B8B0A0"/>
                </a:solidFill>
                <a:latin typeface="Georgia"/>
              </a:defRPr>
            </a:pPr>
            <a:r>
              <a:t>Artificial Intelligence Tools for Everyone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1033272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87268"/>
                </a:solidFill>
                <a:latin typeface="Consolas"/>
              </a:defRPr>
            </a:pPr>
            <a:r>
              <a:t>20 hours  ·  8 modules  ·  Theory + Practice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389120"/>
            <a:ext cx="6675120" cy="13716"/>
          </a:xfrm>
          <a:prstGeom prst="rect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1033272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D4AF37"/>
                </a:solidFill>
                <a:latin typeface="Consolas"/>
              </a:defRPr>
            </a:pPr>
            <a:r>
              <a:t>CERTIFIED SKILLS</a:t>
            </a:r>
          </a:p>
        </p:txBody>
      </p:sp>
      <p:sp>
        <p:nvSpPr>
          <p:cNvPr id="26" name="Diamond 25"/>
          <p:cNvSpPr/>
          <p:nvPr/>
        </p:nvSpPr>
        <p:spPr>
          <a:xfrm>
            <a:off x="3447288" y="4818888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754880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Professional use of ChatGPT, Claude and open source models</a:t>
            </a:r>
          </a:p>
        </p:txBody>
      </p:sp>
      <p:sp>
        <p:nvSpPr>
          <p:cNvPr id="28" name="Diamond 27"/>
          <p:cNvSpPr/>
          <p:nvPr/>
        </p:nvSpPr>
        <p:spPr>
          <a:xfrm>
            <a:off x="3447288" y="5074920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5010912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Prompt engineering with structured techniques</a:t>
            </a:r>
          </a:p>
        </p:txBody>
      </p:sp>
      <p:sp>
        <p:nvSpPr>
          <p:cNvPr id="30" name="Diamond 29"/>
          <p:cNvSpPr/>
          <p:nvPr/>
        </p:nvSpPr>
        <p:spPr>
          <a:xfrm>
            <a:off x="3447288" y="5330951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5266944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AI integration into daily work workflows</a:t>
            </a:r>
          </a:p>
        </p:txBody>
      </p:sp>
      <p:sp>
        <p:nvSpPr>
          <p:cNvPr id="32" name="Diamond 31"/>
          <p:cNvSpPr/>
          <p:nvPr/>
        </p:nvSpPr>
        <p:spPr>
          <a:xfrm>
            <a:off x="3447288" y="5586983"/>
            <a:ext cx="54864" cy="54864"/>
          </a:xfrm>
          <a:prstGeom prst="diamond">
            <a:avLst/>
          </a:prstGeom>
          <a:solidFill>
            <a:srgbClr val="D4AF37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522976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alibri"/>
              </a:defRPr>
            </a:pPr>
            <a:r>
              <a:t>Responsible and informed use of 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852160"/>
            <a:ext cx="6675120" cy="13716"/>
          </a:xfrm>
          <a:prstGeom prst="rect">
            <a:avLst/>
          </a:prstGeom>
          <a:solidFill>
            <a:srgbClr val="A0822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989320"/>
            <a:ext cx="3200400" cy="16459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D4AF37"/>
                </a:solidFill>
                <a:latin typeface="Consolas"/>
              </a:defRPr>
            </a:pPr>
            <a:r>
              <a:t>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144768"/>
            <a:ext cx="32004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8B0A0"/>
                </a:solidFill>
                <a:latin typeface="Consolas"/>
              </a:defRPr>
            </a:pPr>
            <a:r>
              <a:t>Project: ___ / 25     Quiz: ___ / 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989320"/>
            <a:ext cx="2743200" cy="16459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D4AF37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144768"/>
            <a:ext cx="27432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B8B0A0"/>
                </a:solidFill>
                <a:latin typeface="Calibri"/>
              </a:defRPr>
            </a:pPr>
            <a:r>
              <a:t>____________________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989320"/>
            <a:ext cx="3566160" cy="16459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D4AF37"/>
                </a:solidFill>
                <a:latin typeface="Consolas"/>
              </a:defRPr>
            </a:pPr>
            <a:r>
              <a:t>Instructor Signature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144768"/>
            <a:ext cx="356616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B8B0A0"/>
                </a:solidFill>
                <a:latin typeface="Calibri"/>
              </a:defRPr>
            </a:pPr>
            <a:r>
              <a:t>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